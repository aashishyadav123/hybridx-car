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8" r:id="rId9"/>
    <p:sldId id="270" r:id="rId10"/>
    <p:sldId id="271" r:id="rId11"/>
    <p:sldId id="272" r:id="rId12"/>
    <p:sldId id="273" r:id="rId13"/>
  </p:sldIdLst>
  <p:sldSz cx="18288000" cy="10287000"/>
  <p:notesSz cx="18288000" cy="10287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Otama ep" panose="020B0604020202020204" charset="0"/>
      <p:regular r:id="rId21"/>
    </p:embeddedFont>
    <p:embeddedFont>
      <p:font typeface="Playfair Display" panose="000005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2BFFF-B3CA-45F2-9747-F26C809D7767}" v="4" dt="2026-03-31T06:49:16.858"/>
  </p1510:revLst>
</p1510:revInfo>
</file>

<file path=ppt/tableStyles.xml><?xml version="1.0" encoding="utf-8"?>
<a:tblStyleLst xmlns:a="http://schemas.openxmlformats.org/drawingml/2006/main" def="{5C22544A-7EE6-4342-B048-85BDC9FD1C3A}">
  <a:tblStyle styleId="{0A5CDE41-25D3-42C1-8756-8E819632893E}" styleName="Medium Style 2 - Accent 5">
    <a:wholeTbl>
      <a:tcTxStyle>
        <a:fontRef idx="minor">
          <a:srgbClr val="000000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04174968447196E-2"/>
          <c:y val="0.2388053589863372"/>
          <c:w val="0.93252312785490687"/>
          <c:h val="0.590937245877813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25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Remote control</c:v>
                </c:pt>
                <c:pt idx="1">
                  <c:v>voice control</c:v>
                </c:pt>
                <c:pt idx="2">
                  <c:v>obstacles avoidance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0.95</c:v>
                </c:pt>
                <c:pt idx="1">
                  <c:v>0.9</c:v>
                </c:pt>
                <c:pt idx="2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B7-4CD6-A6E1-5F368BBD78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779582831"/>
        <c:axId val="1779570831"/>
      </c:barChart>
      <c:catAx>
        <c:axId val="17795828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9570831"/>
        <c:crosses val="autoZero"/>
        <c:auto val="1"/>
        <c:lblAlgn val="ctr"/>
        <c:lblOffset val="100"/>
        <c:noMultiLvlLbl val="0"/>
      </c:catAx>
      <c:valAx>
        <c:axId val="17795708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779582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7869778814000992"/>
          <c:y val="3.6622431383405134E-3"/>
          <c:w val="0.58432870172469342"/>
          <c:h val="0.227489027688865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F7944-6937-4CF5-8F49-04D77013160D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B6CC2BF-1736-4EB8-9BDB-41673E7C5130}">
      <dgm:prSet/>
      <dgm:spPr/>
      <dgm:t>
        <a:bodyPr/>
        <a:lstStyle/>
        <a:p>
          <a:r>
            <a:rPr lang="en-US" b="0" i="0" baseline="0"/>
            <a:t>Arduino-based intelligent control system </a:t>
          </a:r>
          <a:endParaRPr lang="en-IN"/>
        </a:p>
      </dgm:t>
    </dgm:pt>
    <dgm:pt modelId="{35E2F8DE-3BCB-4745-AFFF-EFD0DC53AF09}" type="parTrans" cxnId="{1E22C58B-9208-4A65-B807-BE710E225B35}">
      <dgm:prSet/>
      <dgm:spPr/>
      <dgm:t>
        <a:bodyPr/>
        <a:lstStyle/>
        <a:p>
          <a:endParaRPr lang="en-IN"/>
        </a:p>
      </dgm:t>
    </dgm:pt>
    <dgm:pt modelId="{B0031219-1418-44D1-954A-A36A52A756AE}" type="sibTrans" cxnId="{1E22C58B-9208-4A65-B807-BE710E225B35}">
      <dgm:prSet/>
      <dgm:spPr/>
      <dgm:t>
        <a:bodyPr/>
        <a:lstStyle/>
        <a:p>
          <a:endParaRPr lang="en-IN"/>
        </a:p>
      </dgm:t>
    </dgm:pt>
    <dgm:pt modelId="{8324CD2B-EFF3-428D-B86D-79C9EFBC73B6}">
      <dgm:prSet/>
      <dgm:spPr/>
      <dgm:t>
        <a:bodyPr/>
        <a:lstStyle/>
        <a:p>
          <a:r>
            <a:rPr lang="en-US" b="0" i="0" baseline="0"/>
            <a:t>Multi-mode operation: Remote, Voice &amp; Automatic </a:t>
          </a:r>
          <a:endParaRPr lang="en-IN"/>
        </a:p>
      </dgm:t>
    </dgm:pt>
    <dgm:pt modelId="{68D97767-2059-48B0-A822-AF9CBB78BCF9}" type="parTrans" cxnId="{BFBB96E7-EDEC-4E9B-B3FF-9F003F64098A}">
      <dgm:prSet/>
      <dgm:spPr/>
      <dgm:t>
        <a:bodyPr/>
        <a:lstStyle/>
        <a:p>
          <a:endParaRPr lang="en-IN"/>
        </a:p>
      </dgm:t>
    </dgm:pt>
    <dgm:pt modelId="{C076304A-CB74-41A5-851B-A9CDDE865899}" type="sibTrans" cxnId="{BFBB96E7-EDEC-4E9B-B3FF-9F003F64098A}">
      <dgm:prSet/>
      <dgm:spPr/>
      <dgm:t>
        <a:bodyPr/>
        <a:lstStyle/>
        <a:p>
          <a:endParaRPr lang="en-IN"/>
        </a:p>
      </dgm:t>
    </dgm:pt>
    <dgm:pt modelId="{DDA2155F-1FB1-4082-81E1-031218A4EA77}">
      <dgm:prSet/>
      <dgm:spPr/>
      <dgm:t>
        <a:bodyPr/>
        <a:lstStyle/>
        <a:p>
          <a:r>
            <a:rPr lang="en-US" b="0" i="0" baseline="0" dirty="0"/>
            <a:t>Real-time obstacle detection using ultrasonic sensor </a:t>
          </a:r>
          <a:endParaRPr lang="en-IN" dirty="0"/>
        </a:p>
      </dgm:t>
    </dgm:pt>
    <dgm:pt modelId="{212D6314-58CA-497F-87B0-F656D3066894}" type="parTrans" cxnId="{9A85F4E9-F1BA-43B3-9BF6-FBD80775E878}">
      <dgm:prSet/>
      <dgm:spPr/>
      <dgm:t>
        <a:bodyPr/>
        <a:lstStyle/>
        <a:p>
          <a:endParaRPr lang="en-IN"/>
        </a:p>
      </dgm:t>
    </dgm:pt>
    <dgm:pt modelId="{FD733482-0AAC-493D-AA32-1E973699A22E}" type="sibTrans" cxnId="{9A85F4E9-F1BA-43B3-9BF6-FBD80775E878}">
      <dgm:prSet/>
      <dgm:spPr/>
      <dgm:t>
        <a:bodyPr/>
        <a:lstStyle/>
        <a:p>
          <a:endParaRPr lang="en-IN"/>
        </a:p>
      </dgm:t>
    </dgm:pt>
    <dgm:pt modelId="{9BFF7808-7343-4304-A2D4-AB7B96C0B216}">
      <dgm:prSet/>
      <dgm:spPr/>
      <dgm:t>
        <a:bodyPr/>
        <a:lstStyle/>
        <a:p>
          <a:r>
            <a:rPr lang="en-US" b="0" i="0" baseline="0"/>
            <a:t>Automatic stop and smart direction control </a:t>
          </a:r>
          <a:endParaRPr lang="en-IN"/>
        </a:p>
      </dgm:t>
    </dgm:pt>
    <dgm:pt modelId="{CF5B3530-7C4A-4BB8-898E-2D51FB0CE513}" type="parTrans" cxnId="{D2820FC7-4393-4A5B-8386-368CE65F1AF7}">
      <dgm:prSet/>
      <dgm:spPr/>
      <dgm:t>
        <a:bodyPr/>
        <a:lstStyle/>
        <a:p>
          <a:endParaRPr lang="en-IN"/>
        </a:p>
      </dgm:t>
    </dgm:pt>
    <dgm:pt modelId="{65B27F7F-484A-49F6-AD85-007579BD14EF}" type="sibTrans" cxnId="{D2820FC7-4393-4A5B-8386-368CE65F1AF7}">
      <dgm:prSet/>
      <dgm:spPr/>
      <dgm:t>
        <a:bodyPr/>
        <a:lstStyle/>
        <a:p>
          <a:endParaRPr lang="en-IN"/>
        </a:p>
      </dgm:t>
    </dgm:pt>
    <dgm:pt modelId="{14EF669B-D5AB-45A9-A36F-D94E17662EE5}">
      <dgm:prSet/>
      <dgm:spPr/>
      <dgm:t>
        <a:bodyPr/>
        <a:lstStyle/>
        <a:p>
          <a:r>
            <a:rPr lang="en-US" b="0" i="0" baseline="0"/>
            <a:t>Integrated manual and autonomous navigation </a:t>
          </a:r>
          <a:endParaRPr lang="en-IN"/>
        </a:p>
      </dgm:t>
    </dgm:pt>
    <dgm:pt modelId="{59A65DDF-5118-40B4-8F21-37543254E30C}" type="parTrans" cxnId="{A945A7EE-7D89-4189-B45D-C3E035D0AB14}">
      <dgm:prSet/>
      <dgm:spPr/>
      <dgm:t>
        <a:bodyPr/>
        <a:lstStyle/>
        <a:p>
          <a:endParaRPr lang="en-IN"/>
        </a:p>
      </dgm:t>
    </dgm:pt>
    <dgm:pt modelId="{5F1A4F30-B2BC-4A44-8413-D2C46A614124}" type="sibTrans" cxnId="{A945A7EE-7D89-4189-B45D-C3E035D0AB14}">
      <dgm:prSet/>
      <dgm:spPr/>
      <dgm:t>
        <a:bodyPr/>
        <a:lstStyle/>
        <a:p>
          <a:endParaRPr lang="en-IN"/>
        </a:p>
      </dgm:t>
    </dgm:pt>
    <dgm:pt modelId="{E83EF748-E9C4-4C2E-ADE7-E55F98C869B4}">
      <dgm:prSet/>
      <dgm:spPr/>
      <dgm:t>
        <a:bodyPr/>
        <a:lstStyle/>
        <a:p>
          <a:r>
            <a:rPr lang="en-US" b="0" i="0" baseline="0"/>
            <a:t>Enhanced safety and flexible performance </a:t>
          </a:r>
          <a:endParaRPr lang="en-IN"/>
        </a:p>
      </dgm:t>
    </dgm:pt>
    <dgm:pt modelId="{26C3D6BB-D1AD-4C08-8DF1-12588BA2FBF8}" type="parTrans" cxnId="{0D8F36BB-CD00-4B50-B4C6-041CE99245C6}">
      <dgm:prSet/>
      <dgm:spPr/>
      <dgm:t>
        <a:bodyPr/>
        <a:lstStyle/>
        <a:p>
          <a:endParaRPr lang="en-IN"/>
        </a:p>
      </dgm:t>
    </dgm:pt>
    <dgm:pt modelId="{E84E0A90-611E-4E95-95FA-5C84CE6C36EA}" type="sibTrans" cxnId="{0D8F36BB-CD00-4B50-B4C6-041CE99245C6}">
      <dgm:prSet/>
      <dgm:spPr/>
      <dgm:t>
        <a:bodyPr/>
        <a:lstStyle/>
        <a:p>
          <a:endParaRPr lang="en-IN"/>
        </a:p>
      </dgm:t>
    </dgm:pt>
    <dgm:pt modelId="{EA724B17-0621-4043-99E2-6889F19BB5D9}" type="pres">
      <dgm:prSet presAssocID="{FC4F7944-6937-4CF5-8F49-04D77013160D}" presName="vert0" presStyleCnt="0">
        <dgm:presLayoutVars>
          <dgm:dir/>
          <dgm:animOne val="branch"/>
          <dgm:animLvl val="lvl"/>
        </dgm:presLayoutVars>
      </dgm:prSet>
      <dgm:spPr/>
    </dgm:pt>
    <dgm:pt modelId="{3BC81576-BEA3-4C78-BF0E-D9F5A4BDCD33}" type="pres">
      <dgm:prSet presAssocID="{2B6CC2BF-1736-4EB8-9BDB-41673E7C5130}" presName="thickLine" presStyleLbl="alignNode1" presStyleIdx="0" presStyleCnt="6"/>
      <dgm:spPr/>
    </dgm:pt>
    <dgm:pt modelId="{B6D9453E-AA9B-4B48-9A40-01394D2C773C}" type="pres">
      <dgm:prSet presAssocID="{2B6CC2BF-1736-4EB8-9BDB-41673E7C5130}" presName="horz1" presStyleCnt="0"/>
      <dgm:spPr/>
    </dgm:pt>
    <dgm:pt modelId="{21F8D04A-E213-4C0D-A1ED-1A767B651F8A}" type="pres">
      <dgm:prSet presAssocID="{2B6CC2BF-1736-4EB8-9BDB-41673E7C5130}" presName="tx1" presStyleLbl="revTx" presStyleIdx="0" presStyleCnt="6"/>
      <dgm:spPr/>
    </dgm:pt>
    <dgm:pt modelId="{48133B84-5D67-4EA7-98D5-00A553FB747B}" type="pres">
      <dgm:prSet presAssocID="{2B6CC2BF-1736-4EB8-9BDB-41673E7C5130}" presName="vert1" presStyleCnt="0"/>
      <dgm:spPr/>
    </dgm:pt>
    <dgm:pt modelId="{3F897845-5235-4449-AAA9-0CCF70055DAC}" type="pres">
      <dgm:prSet presAssocID="{8324CD2B-EFF3-428D-B86D-79C9EFBC73B6}" presName="thickLine" presStyleLbl="alignNode1" presStyleIdx="1" presStyleCnt="6"/>
      <dgm:spPr/>
    </dgm:pt>
    <dgm:pt modelId="{9FBA18FB-9D2D-4716-B8CA-ABDFEB334459}" type="pres">
      <dgm:prSet presAssocID="{8324CD2B-EFF3-428D-B86D-79C9EFBC73B6}" presName="horz1" presStyleCnt="0"/>
      <dgm:spPr/>
    </dgm:pt>
    <dgm:pt modelId="{56F2460F-50AA-45D8-9EA3-12186D71D48D}" type="pres">
      <dgm:prSet presAssocID="{8324CD2B-EFF3-428D-B86D-79C9EFBC73B6}" presName="tx1" presStyleLbl="revTx" presStyleIdx="1" presStyleCnt="6"/>
      <dgm:spPr/>
    </dgm:pt>
    <dgm:pt modelId="{27E1F4CE-2DA6-4FA0-86E5-6E0E4A93ACBB}" type="pres">
      <dgm:prSet presAssocID="{8324CD2B-EFF3-428D-B86D-79C9EFBC73B6}" presName="vert1" presStyleCnt="0"/>
      <dgm:spPr/>
    </dgm:pt>
    <dgm:pt modelId="{08176594-4789-4BCA-AB37-ACFE8F6567AD}" type="pres">
      <dgm:prSet presAssocID="{DDA2155F-1FB1-4082-81E1-031218A4EA77}" presName="thickLine" presStyleLbl="alignNode1" presStyleIdx="2" presStyleCnt="6"/>
      <dgm:spPr/>
    </dgm:pt>
    <dgm:pt modelId="{2A4DFD16-4E2B-4A7B-A406-066FD7D275E3}" type="pres">
      <dgm:prSet presAssocID="{DDA2155F-1FB1-4082-81E1-031218A4EA77}" presName="horz1" presStyleCnt="0"/>
      <dgm:spPr/>
    </dgm:pt>
    <dgm:pt modelId="{5543A762-8501-4FFA-A7F1-964D4DE03689}" type="pres">
      <dgm:prSet presAssocID="{DDA2155F-1FB1-4082-81E1-031218A4EA77}" presName="tx1" presStyleLbl="revTx" presStyleIdx="2" presStyleCnt="6"/>
      <dgm:spPr/>
    </dgm:pt>
    <dgm:pt modelId="{D9DD4142-CCEB-47EE-B367-92F346B1059D}" type="pres">
      <dgm:prSet presAssocID="{DDA2155F-1FB1-4082-81E1-031218A4EA77}" presName="vert1" presStyleCnt="0"/>
      <dgm:spPr/>
    </dgm:pt>
    <dgm:pt modelId="{C401A227-637E-4488-9A28-05826DAA29D6}" type="pres">
      <dgm:prSet presAssocID="{9BFF7808-7343-4304-A2D4-AB7B96C0B216}" presName="thickLine" presStyleLbl="alignNode1" presStyleIdx="3" presStyleCnt="6"/>
      <dgm:spPr/>
    </dgm:pt>
    <dgm:pt modelId="{24ADEEA7-6CBB-4FFD-8D40-AACEE77BC8C1}" type="pres">
      <dgm:prSet presAssocID="{9BFF7808-7343-4304-A2D4-AB7B96C0B216}" presName="horz1" presStyleCnt="0"/>
      <dgm:spPr/>
    </dgm:pt>
    <dgm:pt modelId="{E96681AB-0424-4A65-9F8B-5F497CC91D51}" type="pres">
      <dgm:prSet presAssocID="{9BFF7808-7343-4304-A2D4-AB7B96C0B216}" presName="tx1" presStyleLbl="revTx" presStyleIdx="3" presStyleCnt="6"/>
      <dgm:spPr/>
    </dgm:pt>
    <dgm:pt modelId="{8DBFADD8-FAE1-438D-831E-AD045CCA99BA}" type="pres">
      <dgm:prSet presAssocID="{9BFF7808-7343-4304-A2D4-AB7B96C0B216}" presName="vert1" presStyleCnt="0"/>
      <dgm:spPr/>
    </dgm:pt>
    <dgm:pt modelId="{2B642AAE-23EF-4F07-A27B-9335623D34F5}" type="pres">
      <dgm:prSet presAssocID="{14EF669B-D5AB-45A9-A36F-D94E17662EE5}" presName="thickLine" presStyleLbl="alignNode1" presStyleIdx="4" presStyleCnt="6"/>
      <dgm:spPr/>
    </dgm:pt>
    <dgm:pt modelId="{4BBF6903-A6CF-43CC-883A-8B8A4E80AE31}" type="pres">
      <dgm:prSet presAssocID="{14EF669B-D5AB-45A9-A36F-D94E17662EE5}" presName="horz1" presStyleCnt="0"/>
      <dgm:spPr/>
    </dgm:pt>
    <dgm:pt modelId="{BA15983C-F1FA-4019-AF48-2FD1B3DB246E}" type="pres">
      <dgm:prSet presAssocID="{14EF669B-D5AB-45A9-A36F-D94E17662EE5}" presName="tx1" presStyleLbl="revTx" presStyleIdx="4" presStyleCnt="6"/>
      <dgm:spPr/>
    </dgm:pt>
    <dgm:pt modelId="{BAA4861E-DA7C-4220-B2FC-4E6B0E3A4C32}" type="pres">
      <dgm:prSet presAssocID="{14EF669B-D5AB-45A9-A36F-D94E17662EE5}" presName="vert1" presStyleCnt="0"/>
      <dgm:spPr/>
    </dgm:pt>
    <dgm:pt modelId="{04E27281-AB6D-4431-84C6-F20020C6CC9E}" type="pres">
      <dgm:prSet presAssocID="{E83EF748-E9C4-4C2E-ADE7-E55F98C869B4}" presName="thickLine" presStyleLbl="alignNode1" presStyleIdx="5" presStyleCnt="6"/>
      <dgm:spPr/>
    </dgm:pt>
    <dgm:pt modelId="{9CB6D1A9-E906-4EF4-BA9E-1C7955F60740}" type="pres">
      <dgm:prSet presAssocID="{E83EF748-E9C4-4C2E-ADE7-E55F98C869B4}" presName="horz1" presStyleCnt="0"/>
      <dgm:spPr/>
    </dgm:pt>
    <dgm:pt modelId="{B0246F57-170D-4689-BF7E-85762A20C9BF}" type="pres">
      <dgm:prSet presAssocID="{E83EF748-E9C4-4C2E-ADE7-E55F98C869B4}" presName="tx1" presStyleLbl="revTx" presStyleIdx="5" presStyleCnt="6"/>
      <dgm:spPr/>
    </dgm:pt>
    <dgm:pt modelId="{A38F263E-BDF5-4C86-B430-6BA84186BA32}" type="pres">
      <dgm:prSet presAssocID="{E83EF748-E9C4-4C2E-ADE7-E55F98C869B4}" presName="vert1" presStyleCnt="0"/>
      <dgm:spPr/>
    </dgm:pt>
  </dgm:ptLst>
  <dgm:cxnLst>
    <dgm:cxn modelId="{60A8AD03-108A-4221-8886-FF59F969800C}" type="presOf" srcId="{14EF669B-D5AB-45A9-A36F-D94E17662EE5}" destId="{BA15983C-F1FA-4019-AF48-2FD1B3DB246E}" srcOrd="0" destOrd="0" presId="urn:microsoft.com/office/officeart/2008/layout/LinedList"/>
    <dgm:cxn modelId="{335C041C-61C0-41A1-8009-65E99040089F}" type="presOf" srcId="{9BFF7808-7343-4304-A2D4-AB7B96C0B216}" destId="{E96681AB-0424-4A65-9F8B-5F497CC91D51}" srcOrd="0" destOrd="0" presId="urn:microsoft.com/office/officeart/2008/layout/LinedList"/>
    <dgm:cxn modelId="{B6B7F246-2990-4A44-8ECF-D705094C9E4B}" type="presOf" srcId="{FC4F7944-6937-4CF5-8F49-04D77013160D}" destId="{EA724B17-0621-4043-99E2-6889F19BB5D9}" srcOrd="0" destOrd="0" presId="urn:microsoft.com/office/officeart/2008/layout/LinedList"/>
    <dgm:cxn modelId="{1E22C58B-9208-4A65-B807-BE710E225B35}" srcId="{FC4F7944-6937-4CF5-8F49-04D77013160D}" destId="{2B6CC2BF-1736-4EB8-9BDB-41673E7C5130}" srcOrd="0" destOrd="0" parTransId="{35E2F8DE-3BCB-4745-AFFF-EFD0DC53AF09}" sibTransId="{B0031219-1418-44D1-954A-A36A52A756AE}"/>
    <dgm:cxn modelId="{A8D47A97-E150-41D4-A739-E28C9438AB5E}" type="presOf" srcId="{DDA2155F-1FB1-4082-81E1-031218A4EA77}" destId="{5543A762-8501-4FFA-A7F1-964D4DE03689}" srcOrd="0" destOrd="0" presId="urn:microsoft.com/office/officeart/2008/layout/LinedList"/>
    <dgm:cxn modelId="{0D8F36BB-CD00-4B50-B4C6-041CE99245C6}" srcId="{FC4F7944-6937-4CF5-8F49-04D77013160D}" destId="{E83EF748-E9C4-4C2E-ADE7-E55F98C869B4}" srcOrd="5" destOrd="0" parTransId="{26C3D6BB-D1AD-4C08-8DF1-12588BA2FBF8}" sibTransId="{E84E0A90-611E-4E95-95FA-5C84CE6C36EA}"/>
    <dgm:cxn modelId="{313312BF-D953-45E5-860D-C6628F4D9C67}" type="presOf" srcId="{E83EF748-E9C4-4C2E-ADE7-E55F98C869B4}" destId="{B0246F57-170D-4689-BF7E-85762A20C9BF}" srcOrd="0" destOrd="0" presId="urn:microsoft.com/office/officeart/2008/layout/LinedList"/>
    <dgm:cxn modelId="{D2820FC7-4393-4A5B-8386-368CE65F1AF7}" srcId="{FC4F7944-6937-4CF5-8F49-04D77013160D}" destId="{9BFF7808-7343-4304-A2D4-AB7B96C0B216}" srcOrd="3" destOrd="0" parTransId="{CF5B3530-7C4A-4BB8-898E-2D51FB0CE513}" sibTransId="{65B27F7F-484A-49F6-AD85-007579BD14EF}"/>
    <dgm:cxn modelId="{CD7810D3-E0C4-499C-9BF1-A078126E2AB5}" type="presOf" srcId="{8324CD2B-EFF3-428D-B86D-79C9EFBC73B6}" destId="{56F2460F-50AA-45D8-9EA3-12186D71D48D}" srcOrd="0" destOrd="0" presId="urn:microsoft.com/office/officeart/2008/layout/LinedList"/>
    <dgm:cxn modelId="{96D8ECDF-D4BB-4BB5-8510-366E36490F5E}" type="presOf" srcId="{2B6CC2BF-1736-4EB8-9BDB-41673E7C5130}" destId="{21F8D04A-E213-4C0D-A1ED-1A767B651F8A}" srcOrd="0" destOrd="0" presId="urn:microsoft.com/office/officeart/2008/layout/LinedList"/>
    <dgm:cxn modelId="{BFBB96E7-EDEC-4E9B-B3FF-9F003F64098A}" srcId="{FC4F7944-6937-4CF5-8F49-04D77013160D}" destId="{8324CD2B-EFF3-428D-B86D-79C9EFBC73B6}" srcOrd="1" destOrd="0" parTransId="{68D97767-2059-48B0-A822-AF9CBB78BCF9}" sibTransId="{C076304A-CB74-41A5-851B-A9CDDE865899}"/>
    <dgm:cxn modelId="{9A85F4E9-F1BA-43B3-9BF6-FBD80775E878}" srcId="{FC4F7944-6937-4CF5-8F49-04D77013160D}" destId="{DDA2155F-1FB1-4082-81E1-031218A4EA77}" srcOrd="2" destOrd="0" parTransId="{212D6314-58CA-497F-87B0-F656D3066894}" sibTransId="{FD733482-0AAC-493D-AA32-1E973699A22E}"/>
    <dgm:cxn modelId="{A945A7EE-7D89-4189-B45D-C3E035D0AB14}" srcId="{FC4F7944-6937-4CF5-8F49-04D77013160D}" destId="{14EF669B-D5AB-45A9-A36F-D94E17662EE5}" srcOrd="4" destOrd="0" parTransId="{59A65DDF-5118-40B4-8F21-37543254E30C}" sibTransId="{5F1A4F30-B2BC-4A44-8413-D2C46A614124}"/>
    <dgm:cxn modelId="{29EAB062-AE0A-4029-9712-07EDFD192F06}" type="presParOf" srcId="{EA724B17-0621-4043-99E2-6889F19BB5D9}" destId="{3BC81576-BEA3-4C78-BF0E-D9F5A4BDCD33}" srcOrd="0" destOrd="0" presId="urn:microsoft.com/office/officeart/2008/layout/LinedList"/>
    <dgm:cxn modelId="{87BAC799-AB6D-4EDF-BE9F-DCD047F47A1A}" type="presParOf" srcId="{EA724B17-0621-4043-99E2-6889F19BB5D9}" destId="{B6D9453E-AA9B-4B48-9A40-01394D2C773C}" srcOrd="1" destOrd="0" presId="urn:microsoft.com/office/officeart/2008/layout/LinedList"/>
    <dgm:cxn modelId="{620A98DE-B0B3-40F5-A3F2-564DF0CF2C05}" type="presParOf" srcId="{B6D9453E-AA9B-4B48-9A40-01394D2C773C}" destId="{21F8D04A-E213-4C0D-A1ED-1A767B651F8A}" srcOrd="0" destOrd="0" presId="urn:microsoft.com/office/officeart/2008/layout/LinedList"/>
    <dgm:cxn modelId="{3AFB58C0-EE27-4617-AEF4-9DB3EFA02715}" type="presParOf" srcId="{B6D9453E-AA9B-4B48-9A40-01394D2C773C}" destId="{48133B84-5D67-4EA7-98D5-00A553FB747B}" srcOrd="1" destOrd="0" presId="urn:microsoft.com/office/officeart/2008/layout/LinedList"/>
    <dgm:cxn modelId="{FC4959E6-19E1-4542-918A-940B07947E73}" type="presParOf" srcId="{EA724B17-0621-4043-99E2-6889F19BB5D9}" destId="{3F897845-5235-4449-AAA9-0CCF70055DAC}" srcOrd="2" destOrd="0" presId="urn:microsoft.com/office/officeart/2008/layout/LinedList"/>
    <dgm:cxn modelId="{A1D2B468-9582-473F-8DD4-51C9E3C2075C}" type="presParOf" srcId="{EA724B17-0621-4043-99E2-6889F19BB5D9}" destId="{9FBA18FB-9D2D-4716-B8CA-ABDFEB334459}" srcOrd="3" destOrd="0" presId="urn:microsoft.com/office/officeart/2008/layout/LinedList"/>
    <dgm:cxn modelId="{A9B93C33-06C3-4BD8-8C73-4E37DC925ACA}" type="presParOf" srcId="{9FBA18FB-9D2D-4716-B8CA-ABDFEB334459}" destId="{56F2460F-50AA-45D8-9EA3-12186D71D48D}" srcOrd="0" destOrd="0" presId="urn:microsoft.com/office/officeart/2008/layout/LinedList"/>
    <dgm:cxn modelId="{31C2C808-3874-4910-ADBD-96A3CB7B15CE}" type="presParOf" srcId="{9FBA18FB-9D2D-4716-B8CA-ABDFEB334459}" destId="{27E1F4CE-2DA6-4FA0-86E5-6E0E4A93ACBB}" srcOrd="1" destOrd="0" presId="urn:microsoft.com/office/officeart/2008/layout/LinedList"/>
    <dgm:cxn modelId="{C120DC62-50F9-48F7-A7F5-AC4DBF648698}" type="presParOf" srcId="{EA724B17-0621-4043-99E2-6889F19BB5D9}" destId="{08176594-4789-4BCA-AB37-ACFE8F6567AD}" srcOrd="4" destOrd="0" presId="urn:microsoft.com/office/officeart/2008/layout/LinedList"/>
    <dgm:cxn modelId="{84E352F9-700D-4627-8055-0BBF734D47D6}" type="presParOf" srcId="{EA724B17-0621-4043-99E2-6889F19BB5D9}" destId="{2A4DFD16-4E2B-4A7B-A406-066FD7D275E3}" srcOrd="5" destOrd="0" presId="urn:microsoft.com/office/officeart/2008/layout/LinedList"/>
    <dgm:cxn modelId="{D421792C-47ED-4712-B788-9A976C14EBF1}" type="presParOf" srcId="{2A4DFD16-4E2B-4A7B-A406-066FD7D275E3}" destId="{5543A762-8501-4FFA-A7F1-964D4DE03689}" srcOrd="0" destOrd="0" presId="urn:microsoft.com/office/officeart/2008/layout/LinedList"/>
    <dgm:cxn modelId="{700E5496-E450-4BD6-8616-E5158E3C0356}" type="presParOf" srcId="{2A4DFD16-4E2B-4A7B-A406-066FD7D275E3}" destId="{D9DD4142-CCEB-47EE-B367-92F346B1059D}" srcOrd="1" destOrd="0" presId="urn:microsoft.com/office/officeart/2008/layout/LinedList"/>
    <dgm:cxn modelId="{95B20E22-FA9B-4824-9BFC-11E2BA32AEEA}" type="presParOf" srcId="{EA724B17-0621-4043-99E2-6889F19BB5D9}" destId="{C401A227-637E-4488-9A28-05826DAA29D6}" srcOrd="6" destOrd="0" presId="urn:microsoft.com/office/officeart/2008/layout/LinedList"/>
    <dgm:cxn modelId="{601E5C80-CF91-4EE8-985D-9288A1DEC924}" type="presParOf" srcId="{EA724B17-0621-4043-99E2-6889F19BB5D9}" destId="{24ADEEA7-6CBB-4FFD-8D40-AACEE77BC8C1}" srcOrd="7" destOrd="0" presId="urn:microsoft.com/office/officeart/2008/layout/LinedList"/>
    <dgm:cxn modelId="{A3AC9FAE-D47E-4DCA-B661-DBB514661BFC}" type="presParOf" srcId="{24ADEEA7-6CBB-4FFD-8D40-AACEE77BC8C1}" destId="{E96681AB-0424-4A65-9F8B-5F497CC91D51}" srcOrd="0" destOrd="0" presId="urn:microsoft.com/office/officeart/2008/layout/LinedList"/>
    <dgm:cxn modelId="{FFDE03EE-0D94-4D0F-827F-8383AC038EEC}" type="presParOf" srcId="{24ADEEA7-6CBB-4FFD-8D40-AACEE77BC8C1}" destId="{8DBFADD8-FAE1-438D-831E-AD045CCA99BA}" srcOrd="1" destOrd="0" presId="urn:microsoft.com/office/officeart/2008/layout/LinedList"/>
    <dgm:cxn modelId="{6DD8E80A-DF2E-41CE-A8E6-BD110FC84DE7}" type="presParOf" srcId="{EA724B17-0621-4043-99E2-6889F19BB5D9}" destId="{2B642AAE-23EF-4F07-A27B-9335623D34F5}" srcOrd="8" destOrd="0" presId="urn:microsoft.com/office/officeart/2008/layout/LinedList"/>
    <dgm:cxn modelId="{E070E585-B60C-43BB-8E24-FD11BDC90B00}" type="presParOf" srcId="{EA724B17-0621-4043-99E2-6889F19BB5D9}" destId="{4BBF6903-A6CF-43CC-883A-8B8A4E80AE31}" srcOrd="9" destOrd="0" presId="urn:microsoft.com/office/officeart/2008/layout/LinedList"/>
    <dgm:cxn modelId="{EAAB733B-F0FD-437C-AB27-4A042913FC0A}" type="presParOf" srcId="{4BBF6903-A6CF-43CC-883A-8B8A4E80AE31}" destId="{BA15983C-F1FA-4019-AF48-2FD1B3DB246E}" srcOrd="0" destOrd="0" presId="urn:microsoft.com/office/officeart/2008/layout/LinedList"/>
    <dgm:cxn modelId="{87CCD1D0-4F3C-4C96-B820-906825054B94}" type="presParOf" srcId="{4BBF6903-A6CF-43CC-883A-8B8A4E80AE31}" destId="{BAA4861E-DA7C-4220-B2FC-4E6B0E3A4C32}" srcOrd="1" destOrd="0" presId="urn:microsoft.com/office/officeart/2008/layout/LinedList"/>
    <dgm:cxn modelId="{7C333E40-02A2-4D6D-96A8-ABED04430C63}" type="presParOf" srcId="{EA724B17-0621-4043-99E2-6889F19BB5D9}" destId="{04E27281-AB6D-4431-84C6-F20020C6CC9E}" srcOrd="10" destOrd="0" presId="urn:microsoft.com/office/officeart/2008/layout/LinedList"/>
    <dgm:cxn modelId="{4D92C3DD-0C70-4C5F-AE03-2782E60BACAA}" type="presParOf" srcId="{EA724B17-0621-4043-99E2-6889F19BB5D9}" destId="{9CB6D1A9-E906-4EF4-BA9E-1C7955F60740}" srcOrd="11" destOrd="0" presId="urn:microsoft.com/office/officeart/2008/layout/LinedList"/>
    <dgm:cxn modelId="{2F2A48A3-D20E-4FDD-BDB2-6FD78EDF7216}" type="presParOf" srcId="{9CB6D1A9-E906-4EF4-BA9E-1C7955F60740}" destId="{B0246F57-170D-4689-BF7E-85762A20C9BF}" srcOrd="0" destOrd="0" presId="urn:microsoft.com/office/officeart/2008/layout/LinedList"/>
    <dgm:cxn modelId="{C5E7E453-8CF8-475C-A6F4-E825F863030B}" type="presParOf" srcId="{9CB6D1A9-E906-4EF4-BA9E-1C7955F60740}" destId="{A38F263E-BDF5-4C86-B430-6BA84186BA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81576-BEA3-4C78-BF0E-D9F5A4BDCD33}">
      <dsp:nvSpPr>
        <dsp:cNvPr id="0" name=""/>
        <dsp:cNvSpPr/>
      </dsp:nvSpPr>
      <dsp:spPr>
        <a:xfrm>
          <a:off x="0" y="2827"/>
          <a:ext cx="8286291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0"/>
        </a:gradFill>
        <a:ln w="9525" cap="flat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1F8D04A-E213-4C0D-A1ED-1A767B651F8A}">
      <dsp:nvSpPr>
        <dsp:cNvPr id="0" name=""/>
        <dsp:cNvSpPr/>
      </dsp:nvSpPr>
      <dsp:spPr>
        <a:xfrm>
          <a:off x="0" y="2827"/>
          <a:ext cx="8286291" cy="964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Arduino-based intelligent control system </a:t>
          </a:r>
          <a:endParaRPr lang="en-IN" sz="3000" kern="1200"/>
        </a:p>
      </dsp:txBody>
      <dsp:txXfrm>
        <a:off x="0" y="2827"/>
        <a:ext cx="8286291" cy="964257"/>
      </dsp:txXfrm>
    </dsp:sp>
    <dsp:sp modelId="{3F897845-5235-4449-AAA9-0CCF70055DAC}">
      <dsp:nvSpPr>
        <dsp:cNvPr id="0" name=""/>
        <dsp:cNvSpPr/>
      </dsp:nvSpPr>
      <dsp:spPr>
        <a:xfrm>
          <a:off x="0" y="967085"/>
          <a:ext cx="8286291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0"/>
        </a:gradFill>
        <a:ln w="9525" cap="flat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6F2460F-50AA-45D8-9EA3-12186D71D48D}">
      <dsp:nvSpPr>
        <dsp:cNvPr id="0" name=""/>
        <dsp:cNvSpPr/>
      </dsp:nvSpPr>
      <dsp:spPr>
        <a:xfrm>
          <a:off x="0" y="967085"/>
          <a:ext cx="8286291" cy="964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Multi-mode operation: Remote, Voice &amp; Automatic </a:t>
          </a:r>
          <a:endParaRPr lang="en-IN" sz="3000" kern="1200"/>
        </a:p>
      </dsp:txBody>
      <dsp:txXfrm>
        <a:off x="0" y="967085"/>
        <a:ext cx="8286291" cy="964257"/>
      </dsp:txXfrm>
    </dsp:sp>
    <dsp:sp modelId="{08176594-4789-4BCA-AB37-ACFE8F6567AD}">
      <dsp:nvSpPr>
        <dsp:cNvPr id="0" name=""/>
        <dsp:cNvSpPr/>
      </dsp:nvSpPr>
      <dsp:spPr>
        <a:xfrm>
          <a:off x="0" y="1931342"/>
          <a:ext cx="8286291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0"/>
        </a:gradFill>
        <a:ln w="9525" cap="flat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543A762-8501-4FFA-A7F1-964D4DE03689}">
      <dsp:nvSpPr>
        <dsp:cNvPr id="0" name=""/>
        <dsp:cNvSpPr/>
      </dsp:nvSpPr>
      <dsp:spPr>
        <a:xfrm>
          <a:off x="0" y="1931342"/>
          <a:ext cx="8286291" cy="964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 dirty="0"/>
            <a:t>Real-time obstacle detection using ultrasonic sensor </a:t>
          </a:r>
          <a:endParaRPr lang="en-IN" sz="3000" kern="1200" dirty="0"/>
        </a:p>
      </dsp:txBody>
      <dsp:txXfrm>
        <a:off x="0" y="1931342"/>
        <a:ext cx="8286291" cy="964257"/>
      </dsp:txXfrm>
    </dsp:sp>
    <dsp:sp modelId="{C401A227-637E-4488-9A28-05826DAA29D6}">
      <dsp:nvSpPr>
        <dsp:cNvPr id="0" name=""/>
        <dsp:cNvSpPr/>
      </dsp:nvSpPr>
      <dsp:spPr>
        <a:xfrm>
          <a:off x="0" y="2895599"/>
          <a:ext cx="8286291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0"/>
        </a:gradFill>
        <a:ln w="9525" cap="flat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6681AB-0424-4A65-9F8B-5F497CC91D51}">
      <dsp:nvSpPr>
        <dsp:cNvPr id="0" name=""/>
        <dsp:cNvSpPr/>
      </dsp:nvSpPr>
      <dsp:spPr>
        <a:xfrm>
          <a:off x="0" y="2895600"/>
          <a:ext cx="8286291" cy="964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Automatic stop and smart direction control </a:t>
          </a:r>
          <a:endParaRPr lang="en-IN" sz="3000" kern="1200"/>
        </a:p>
      </dsp:txBody>
      <dsp:txXfrm>
        <a:off x="0" y="2895600"/>
        <a:ext cx="8286291" cy="964257"/>
      </dsp:txXfrm>
    </dsp:sp>
    <dsp:sp modelId="{2B642AAE-23EF-4F07-A27B-9335623D34F5}">
      <dsp:nvSpPr>
        <dsp:cNvPr id="0" name=""/>
        <dsp:cNvSpPr/>
      </dsp:nvSpPr>
      <dsp:spPr>
        <a:xfrm>
          <a:off x="0" y="3859857"/>
          <a:ext cx="8286291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0"/>
        </a:gradFill>
        <a:ln w="9525" cap="flat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A15983C-F1FA-4019-AF48-2FD1B3DB246E}">
      <dsp:nvSpPr>
        <dsp:cNvPr id="0" name=""/>
        <dsp:cNvSpPr/>
      </dsp:nvSpPr>
      <dsp:spPr>
        <a:xfrm>
          <a:off x="0" y="3859857"/>
          <a:ext cx="8286291" cy="964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Integrated manual and autonomous navigation </a:t>
          </a:r>
          <a:endParaRPr lang="en-IN" sz="3000" kern="1200"/>
        </a:p>
      </dsp:txBody>
      <dsp:txXfrm>
        <a:off x="0" y="3859857"/>
        <a:ext cx="8286291" cy="964257"/>
      </dsp:txXfrm>
    </dsp:sp>
    <dsp:sp modelId="{04E27281-AB6D-4431-84C6-F20020C6CC9E}">
      <dsp:nvSpPr>
        <dsp:cNvPr id="0" name=""/>
        <dsp:cNvSpPr/>
      </dsp:nvSpPr>
      <dsp:spPr>
        <a:xfrm>
          <a:off x="0" y="4824114"/>
          <a:ext cx="8286291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0"/>
        </a:gradFill>
        <a:ln w="9525" cap="flat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0246F57-170D-4689-BF7E-85762A20C9BF}">
      <dsp:nvSpPr>
        <dsp:cNvPr id="0" name=""/>
        <dsp:cNvSpPr/>
      </dsp:nvSpPr>
      <dsp:spPr>
        <a:xfrm>
          <a:off x="0" y="4824114"/>
          <a:ext cx="8286291" cy="964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Enhanced safety and flexible performance </a:t>
          </a:r>
          <a:endParaRPr lang="en-IN" sz="3000" kern="1200"/>
        </a:p>
      </dsp:txBody>
      <dsp:txXfrm>
        <a:off x="0" y="4824114"/>
        <a:ext cx="8286291" cy="964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9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0A42581-AE02-43DA-8E7B-C82BE3ED975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E81758-73B0-4F12-9524-EBD5C7F8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A64D1530-A501-46CE-BF00-D1B2E6E11F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B62AA-C4BC-4B29-88F4-48365483E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/>
          <a:lstStyle>
            <a:lvl1pPr marL="0" lvl="0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1CB6AC9B-334B-410D-A7EF-C66738A4E5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DBD9CD-F2A0-4AD9-98C3-979437D8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B045AF0-7C7D-49EE-A63A-036357E3CAB1}" type="datetime1"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024AFA35-8A4C-4D96-9CF4-93B0BB55F90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25CE11-DF5C-4DB8-B5C8-E980EA9E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4AEF7AAA-3801-4D61-A727-89CF78C313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C9DBAB-0072-4062-B52F-6AB93450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1732F63-5115-4269-9D5E-29672CD35C0C}" type="slidenum">
              <a:t>‹#›</a:t>
            </a:fld>
            <a:endParaRPr lang="en-US" dirty="0"/>
          </a:p>
        </p:txBody>
      </p:sp>
    </p:spTree>
    <p:extLst>
      <p:ext uri="{D86AE3DF-0747-4B05-93F0-193C01ADD6B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0DBDD80-3FCA-45E5-B50D-EAF5693033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4C0FE7-0083-4EFB-978A-2E4FCFD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245D7E7-B146-4B19-ABCD-2136136AB57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4A90C1F-C155-41A7-AECB-3B5E2BF4E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4AEA0112-828A-4EA7-BB6B-E87BBFA68A2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7B502C-21A3-4906-A01D-2771637B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B431CD2-8630-4EFA-95D9-CF70CF7F1FD6}" type="datetime1"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0E531F51-BE92-4801-9BAE-0E440BBBFF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1CF288C-ABC9-42A8-BD5A-BF6A3375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647FF8E3-D1AE-4C6E-BB65-23A959B69A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98F69B-25B0-4B2F-B394-272BCC1E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1858CAB-29BC-49F3-96B3-865E49E86BFD}" type="slidenum">
              <a:t>‹#›</a:t>
            </a:fld>
            <a:endParaRPr lang="en-US" dirty="0"/>
          </a:p>
        </p:txBody>
      </p:sp>
    </p:spTree>
    <p:extLst>
      <p:ext uri="{A7D43E13-30D3-4699-A7FE-B4DF8FCD072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27FFB84-6F8F-48D0-A36C-7D3776BE63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7C794F-F151-4E4B-9A3B-C96F9EC5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lvl="0" algn="l">
              <a:defRPr lang="en-US" sz="4000" b="1" cap="all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9658B1E8-9B4E-47F3-80AB-81E7574371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609B930-33DF-420E-853D-BA1FF56EB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lvl="0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D8C0808A-1218-4B4E-9D74-A78DFB7558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8A46B8-FD2B-4F19-A9DE-10D0FC63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7CD877E-B55B-4996-9C3E-1D2F91FF7DDF}" type="datetime1"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0123D063-FBC5-44E8-8D0D-81CF1163EE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73EF7E-5126-491F-A677-1EDDDD00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85035184-0281-4DB4-AB9C-5DE6050789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F96856-8A06-41DB-B062-B66E2691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5EC9740-38AD-4DA5-8354-1FD1C1F28BB1}" type="slidenum">
              <a:t>‹#›</a:t>
            </a:fld>
            <a:endParaRPr lang="en-US" dirty="0"/>
          </a:p>
        </p:txBody>
      </p:sp>
    </p:spTree>
    <p:extLst>
      <p:ext uri="{87F1F991-F097-48A8-8307-C7CC4F1E86B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7AE58E-A24C-4433-8F2E-2CE60E46D2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1775F5-A652-4C7E-A5D9-55F89293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DDB2063D-6F6D-45E3-91F1-0EFB432AD7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BF5C15-0540-46BC-9063-395A1EEE0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2"/>
          </a:xfrm>
        </p:spPr>
        <p:txBody>
          <a:bodyPr rtlCol="0"/>
          <a:lstStyle>
            <a:lvl1pPr lvl="0">
              <a:defRPr lang="en-US" sz="28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  <a:lvl6pPr lvl="5">
              <a:defRPr lang="en-US" sz="1800" dirty="0"/>
            </a:lvl6pPr>
            <a:lvl7pPr lvl="6">
              <a:defRPr lang="en-US" sz="1800" dirty="0"/>
            </a:lvl7pPr>
            <a:lvl8pPr lvl="7">
              <a:defRPr lang="en-US" sz="1800" dirty="0"/>
            </a:lvl8pPr>
            <a:lvl9pPr lvl="8">
              <a:defRPr lang="en-US" sz="18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2752FA1E-0D10-48C4-BCAF-94630971624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DB936F-FBE8-47C3-B629-97D9A79E6E0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2"/>
          </a:xfrm>
        </p:spPr>
        <p:txBody>
          <a:bodyPr rtlCol="0"/>
          <a:lstStyle>
            <a:lvl1pPr lvl="0">
              <a:defRPr lang="en-US" sz="28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  <a:lvl6pPr lvl="5">
              <a:defRPr lang="en-US" sz="1800" dirty="0"/>
            </a:lvl6pPr>
            <a:lvl7pPr lvl="6">
              <a:defRPr lang="en-US" sz="1800" dirty="0"/>
            </a:lvl7pPr>
            <a:lvl8pPr lvl="7">
              <a:defRPr lang="en-US" sz="1800" dirty="0"/>
            </a:lvl8pPr>
            <a:lvl9pPr lvl="8">
              <a:defRPr lang="en-US" sz="18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E794AF9D-9562-4C03-B92D-1B9E2B55ACE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2DEE49-789A-43B8-AE24-5C61D364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AD2C649-ED35-455D-A048-1B4B6A722C05}" type="datetime1"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176762E9-6DC7-43D2-A691-CBE2CB04B8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50728D9-A434-4704-9D5B-CF2416A8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A8FF115-D941-40DA-9318-E599FDAC05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CEBB68-A0A6-4A11-ABBC-7A0617302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36C0D80B-327B-4411-92EC-DBFCA99BBB2E}" type="slidenum">
              <a:t>‹#›</a:t>
            </a:fld>
            <a:endParaRPr lang="en-US" dirty="0"/>
          </a:p>
        </p:txBody>
      </p:sp>
    </p:spTree>
    <p:extLst>
      <p:ext uri="{27833E9B-6987-443C-AE3A-5ACE0E6C612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BEB127F-6546-46AB-AC43-3A16698F81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2588A6-856D-45AC-936B-D10A9F85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DCEFB5BF-303C-43E2-A3C1-CE35212254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AD3746-8021-4797-90CC-9DE7D2FE1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7" cy="639762"/>
          </a:xfrm>
        </p:spPr>
        <p:txBody>
          <a:bodyPr rtlCol="0" anchor="b"/>
          <a:lstStyle>
            <a:lvl1pPr marL="0" lvl="0" indent="0">
              <a:buNone/>
              <a:defRPr lang="en-US" sz="2400" b="1" dirty="0"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4B524EF6-7A01-46F3-B999-449ABD2FD5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9232AE-B4C3-4475-B1CB-638740F269C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7" cy="3951288"/>
          </a:xfrm>
        </p:spPr>
        <p:txBody>
          <a:bodyPr rtlCol="0"/>
          <a:lstStyle>
            <a:lvl1pPr lvl="0">
              <a:defRPr lang="en-US" sz="24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  <a:lvl6pPr lvl="5">
              <a:defRPr lang="en-US" sz="1600" dirty="0"/>
            </a:lvl6pPr>
            <a:lvl7pPr lvl="6">
              <a:defRPr lang="en-US" sz="1600" dirty="0"/>
            </a:lvl7pPr>
            <a:lvl8pPr lvl="7">
              <a:defRPr lang="en-US" sz="1600" dirty="0"/>
            </a:lvl8pPr>
            <a:lvl9pPr lvl="8">
              <a:defRPr lang="en-US" sz="16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7DFE5F56-592D-48DA-9AF8-C3BDFF40024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46879AD-98FD-4E07-8C91-DE18EFEEBDF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4" cy="639762"/>
          </a:xfrm>
        </p:spPr>
        <p:txBody>
          <a:bodyPr rtlCol="0" anchor="b"/>
          <a:lstStyle>
            <a:lvl1pPr marL="0" lvl="0" indent="0">
              <a:buNone/>
              <a:defRPr lang="en-US" sz="2400" b="1" dirty="0"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8A942A4B-33D2-4AB5-BE98-E521051469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BB7EA3-9AAF-40D8-A4C2-38CB98A073D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4" cy="3951288"/>
          </a:xfrm>
        </p:spPr>
        <p:txBody>
          <a:bodyPr rtlCol="0"/>
          <a:lstStyle>
            <a:lvl1pPr lvl="0">
              <a:defRPr lang="en-US" sz="24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  <a:lvl6pPr lvl="5">
              <a:defRPr lang="en-US" sz="1600" dirty="0"/>
            </a:lvl6pPr>
            <a:lvl7pPr lvl="6">
              <a:defRPr lang="en-US" sz="1600" dirty="0"/>
            </a:lvl7pPr>
            <a:lvl8pPr lvl="7">
              <a:defRPr lang="en-US" sz="1600" dirty="0"/>
            </a:lvl8pPr>
            <a:lvl9pPr lvl="8">
              <a:defRPr lang="en-US" sz="16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29202F08-A4EF-47D0-A7D1-25EEB618FC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B02981-CF22-4DB4-81B2-D5305A02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5250F22-9C3C-4695-A226-F7C1023A357D}" type="datetime1"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DA441495-9FE7-45ED-8548-B4A23DA7F05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0E92F9-5878-4CF0-A6FC-DA983B78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345FE9A-91CA-456C-90FF-B733B052DD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2F636D-5358-4315-B617-FA64ABF3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F51BF530-5344-4ACD-8753-0674B30D2D4E}" type="slidenum">
              <a:t>‹#›</a:t>
            </a:fld>
            <a:endParaRPr lang="en-US" dirty="0"/>
          </a:p>
        </p:txBody>
      </p:sp>
    </p:spTree>
    <p:extLst>
      <p:ext uri="{D252FA36-610F-4C3C-9416-17C4E2F83D8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7F0D3F8-C036-4D71-B92D-1948C158A29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6E2670-0251-4DDF-9B6D-CA3407E9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44C41321-C8F4-428A-BEA8-82AFB77F3C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228F3CA-ED3C-41DC-A2D4-11006103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B35378B-9822-47C8-BB04-C2348CE8C21A}" type="datetime1">
              <a:t>7/17/2026</a:t>
            </a:fld>
            <a:endParaRPr lang="en-US" dirty="0"/>
          </a:p>
        </p:txBody>
      </p:sp>
      <p:sp>
        <p:nvSpPr>
          <p:cNvPr id="4" name="Footer Placeholder 3">
            <a:extLst>
              <a:ext uri="{F3C4C445-5884-4B73-86DF-B980C22AF5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DEECBB-4587-4379-8E22-04A9B45D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311BECFF-A648-481C-9BEC-EC72FCE18B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1321D4-E102-4F19-9C66-C3B5D831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0BFAC97-071F-4A75-A1B2-FF826313220D}" type="slidenum">
              <a:t>‹#›</a:t>
            </a:fld>
            <a:endParaRPr lang="en-US" dirty="0"/>
          </a:p>
        </p:txBody>
      </p:sp>
    </p:spTree>
    <p:extLst>
      <p:ext uri="{AF1DF8AD-DD87-4C2E-897B-11592D8BB5A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3BEA67FE-FC1D-4635-9FFF-F7C52DCD4B9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104681-BD83-4839-AC2F-479CF50F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4B9E35E-CF67-47D0-A6E2-4BD9CA313AD5}" type="datetime1">
              <a:t>7/17/2026</a:t>
            </a:fld>
            <a:endParaRPr lang="en-US" dirty="0"/>
          </a:p>
        </p:txBody>
      </p:sp>
      <p:sp>
        <p:nvSpPr>
          <p:cNvPr id="3" name="Footer Placeholder 2">
            <a:extLst>
              <a:ext uri="{C8176723-74C8-4C06-A597-3E3E4FACCF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655B22-5CC1-4201-A917-CE1E889C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7E178091-66A8-4FD1-85D5-7810D154CE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269E07-5D48-4950-9A59-44278CE0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847434E-6313-41AF-8CE4-8525D33FD0ED}" type="slidenum">
              <a:t>‹#›</a:t>
            </a:fld>
            <a:endParaRPr lang="en-US" dirty="0"/>
          </a:p>
        </p:txBody>
      </p:sp>
    </p:spTree>
    <p:extLst>
      <p:ext uri="{BCF11D4D-EDE0-4257-9851-4F82257E965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F1773AE-AFE2-4DD2-A458-0D4E3045B1D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426EF2-9B81-4BDD-A298-BB046560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rtlCol="0" anchor="b"/>
          <a:lstStyle>
            <a:lvl1pPr lvl="0" algn="l">
              <a:defRPr lang="en-US" sz="2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18B39879-9673-4D0C-8D4C-B0C12F3BB3F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F638B1-AE4A-4C32-86D3-98856E06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49" cy="5853112"/>
          </a:xfrm>
        </p:spPr>
        <p:txBody>
          <a:bodyPr rtlCol="0"/>
          <a:lstStyle>
            <a:lvl1pPr lvl="0">
              <a:defRPr lang="en-US" sz="3200" dirty="0"/>
            </a:lvl1pPr>
            <a:lvl2pPr lvl="1">
              <a:defRPr lang="en-US" sz="2800" dirty="0"/>
            </a:lvl2pPr>
            <a:lvl3pPr lvl="2">
              <a:defRPr lang="en-US" sz="2400" dirty="0"/>
            </a:lvl3pPr>
            <a:lvl4pPr lvl="3">
              <a:defRPr lang="en-US" sz="2000" dirty="0"/>
            </a:lvl4pPr>
            <a:lvl5pPr lvl="4">
              <a:defRPr lang="en-US" sz="2000" dirty="0"/>
            </a:lvl5pPr>
            <a:lvl6pPr lvl="5">
              <a:defRPr lang="en-US" sz="2000" dirty="0"/>
            </a:lvl6pPr>
            <a:lvl7pPr lvl="6">
              <a:defRPr lang="en-US" sz="2000" dirty="0"/>
            </a:lvl7pPr>
            <a:lvl8pPr lvl="7">
              <a:defRPr lang="en-US" sz="2000" dirty="0"/>
            </a:lvl8pPr>
            <a:lvl9pPr lvl="8">
              <a:defRPr lang="en-US" sz="20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5FE48BC8-5A8A-4542-941C-EA5FCAC8B0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B683DD-238D-48E0-BC44-EAD647AFA7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099"/>
            <a:ext cx="3008313" cy="4691063"/>
          </a:xfrm>
        </p:spPr>
        <p:txBody>
          <a:bodyPr rtlCol="0"/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200" dirty="0"/>
            </a:lvl2pPr>
            <a:lvl3pPr marL="914400" lvl="2" indent="0">
              <a:buNone/>
              <a:defRPr lang="en-US" sz="1000" dirty="0"/>
            </a:lvl3pPr>
            <a:lvl4pPr marL="1371600" lvl="3" indent="0">
              <a:buNone/>
              <a:defRPr lang="en-US" sz="900" dirty="0"/>
            </a:lvl4pPr>
            <a:lvl5pPr marL="1828800" lvl="4" indent="0">
              <a:buNone/>
              <a:defRPr lang="en-US" sz="900" dirty="0"/>
            </a:lvl5pPr>
            <a:lvl6pPr marL="2286000" lvl="5" indent="0">
              <a:buNone/>
              <a:defRPr lang="en-US" sz="900" dirty="0"/>
            </a:lvl6pPr>
            <a:lvl7pPr marL="2743200" lvl="6" indent="0">
              <a:buNone/>
              <a:defRPr lang="en-US" sz="900" dirty="0"/>
            </a:lvl7pPr>
            <a:lvl8pPr marL="3200400" lvl="7" indent="0">
              <a:buNone/>
              <a:defRPr lang="en-US" sz="900" dirty="0"/>
            </a:lvl8pPr>
            <a:lvl9pPr marL="3657600" lvl="8" indent="0">
              <a:buNone/>
              <a:defRPr lang="en-US" sz="900" dirty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9CF15D76-C1C4-4CA3-AFCF-A5311D10EAE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71AE9D-0C82-4272-AAFA-F38BE0F7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C972273-A948-4414-B727-D3473E4FB7AD}" type="datetime1"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1C96D6AD-767E-4EF5-9C87-84A982455DC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C8E0DA-E99A-4B71-B81F-87F639FE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6C8CBFA1-28C5-481B-88AE-DB871682B2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8FEA44D-C089-4375-9AEE-7ADD8C08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E7B41AC-152A-4091-9C3C-30A7B6FB5E70}" type="slidenum">
              <a:t>‹#›</a:t>
            </a:fld>
            <a:endParaRPr lang="en-US" dirty="0"/>
          </a:p>
        </p:txBody>
      </p:sp>
    </p:spTree>
    <p:extLst>
      <p:ext uri="{3857B215-23F9-4B49-9C1B-8F5C8AB4EA7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FADC485-C316-4343-9F1F-D3F33D8EF9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EEB8BB-261D-4B78-991D-CD00D031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rtlCol="0" anchor="b"/>
          <a:lstStyle>
            <a:lvl1pPr lvl="0" algn="l">
              <a:defRPr lang="en-US" sz="2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17B524AC-F0F9-49B0-87B2-0FBC1BC4A5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D01E1D-783A-4B0A-B7F7-0EA150A97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lvl="0" indent="0">
              <a:buNone/>
              <a:defRPr lang="en-US" sz="3200" dirty="0"/>
            </a:lvl1pPr>
            <a:lvl2pPr marL="457200" lvl="1" indent="0">
              <a:buNone/>
              <a:defRPr lang="en-US" sz="2800" dirty="0"/>
            </a:lvl2pPr>
            <a:lvl3pPr marL="914400" lvl="2" indent="0">
              <a:buNone/>
              <a:defRPr lang="en-US" sz="2400" dirty="0"/>
            </a:lvl3pPr>
            <a:lvl4pPr marL="1371600" lvl="3" indent="0">
              <a:buNone/>
              <a:defRPr lang="en-US" sz="2000" dirty="0"/>
            </a:lvl4pPr>
            <a:lvl5pPr marL="1828800" lvl="4" indent="0">
              <a:buNone/>
              <a:defRPr lang="en-US" sz="2000" dirty="0"/>
            </a:lvl5pPr>
            <a:lvl6pPr marL="2286000" lvl="5" indent="0">
              <a:buNone/>
              <a:defRPr lang="en-US" sz="2000" dirty="0"/>
            </a:lvl6pPr>
            <a:lvl7pPr marL="2743200" lvl="6" indent="0">
              <a:buNone/>
              <a:defRPr lang="en-US" sz="2000" dirty="0"/>
            </a:lvl7pPr>
            <a:lvl8pPr marL="3200400" lvl="7" indent="0">
              <a:buNone/>
              <a:defRPr lang="en-US" sz="2000" dirty="0"/>
            </a:lvl8pPr>
            <a:lvl9pPr marL="3657600" lvl="8" indent="0">
              <a:buNone/>
              <a:defRPr lang="en-US" sz="2000" dirty="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E12A6A16-346D-4546-8458-4C9F0DED770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AAEA00-DF11-4E85-9C45-8B0D9D46DB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7"/>
            <a:ext cx="5486400" cy="804862"/>
          </a:xfrm>
        </p:spPr>
        <p:txBody>
          <a:bodyPr rtlCol="0"/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200" dirty="0"/>
            </a:lvl2pPr>
            <a:lvl3pPr marL="914400" lvl="2" indent="0">
              <a:buNone/>
              <a:defRPr lang="en-US" sz="1000" dirty="0"/>
            </a:lvl3pPr>
            <a:lvl4pPr marL="1371600" lvl="3" indent="0">
              <a:buNone/>
              <a:defRPr lang="en-US" sz="900" dirty="0"/>
            </a:lvl4pPr>
            <a:lvl5pPr marL="1828800" lvl="4" indent="0">
              <a:buNone/>
              <a:defRPr lang="en-US" sz="900" dirty="0"/>
            </a:lvl5pPr>
            <a:lvl6pPr marL="2286000" lvl="5" indent="0">
              <a:buNone/>
              <a:defRPr lang="en-US" sz="900" dirty="0"/>
            </a:lvl6pPr>
            <a:lvl7pPr marL="2743200" lvl="6" indent="0">
              <a:buNone/>
              <a:defRPr lang="en-US" sz="900" dirty="0"/>
            </a:lvl7pPr>
            <a:lvl8pPr marL="3200400" lvl="7" indent="0">
              <a:buNone/>
              <a:defRPr lang="en-US" sz="900" dirty="0"/>
            </a:lvl8pPr>
            <a:lvl9pPr marL="3657600" lvl="8" indent="0">
              <a:buNone/>
              <a:defRPr lang="en-US" sz="900" dirty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C05F4952-08D0-4897-AF09-6E22D9DC9CD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0A3C83-B41B-4D73-97C7-CB45208F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D46C669-B904-4D62-B9A3-6A6BE2F74F61}" type="datetime1"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06151BC8-D9CB-4997-89F7-01F8C0E328F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103E05-7A65-43BB-9042-4C3D0C1B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B0660D93-EF99-4973-B41D-A02E3FA08D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04DB26-3509-4B92-94AE-D2CDA3FF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1862F45-A34B-4553-89EA-30D60651BED3}" type="slidenum">
              <a:t>‹#›</a:t>
            </a:fld>
            <a:endParaRPr lang="en-US" dirty="0"/>
          </a:p>
        </p:txBody>
      </p:sp>
    </p:spTree>
    <p:extLst>
      <p:ext uri="{9393B9E4-4A44-4DFB-82A6-515E1E6177C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4D9E530-8CD0-4A84-9DDF-EB6E064E4A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5DF5D6-155B-47F6-8F5E-759BA13D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A4823502-8A9A-490D-8AAE-5B8233B3FE7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2F0537-7E6F-4F9A-81B0-29057DBE7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809875EA-3320-4548-B358-2C247126299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FDA409-D006-4A9E-B5D3-30BAA006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44CEE52-D813-40AC-94F8-27F3CFE7B3DE}" type="datetime1"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29989AA-EDAE-4A08-982F-653667AEF6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8353D6B-932D-4E94-B3E8-A34AC983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6F2506A7-4B3B-4FEC-B26B-FE192237AC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8C17D7-58FD-40CF-B828-FCDC3013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5F8CCD98-8067-4987-B07E-DD23B82F23D2}" type="slidenum">
              <a:t>‹#›</a:t>
            </a:fld>
            <a:endParaRPr lang="en-US" dirty="0"/>
          </a:p>
        </p:txBody>
      </p:sp>
    </p:spTree>
    <p:extLst>
      <p:ext uri="{71CC95D8-0193-4C3B-A0DD-B9402250BA1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5E26AAFE-567F-42FB-9576-3B916DA5335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0FCFDA-B88B-4B2E-B149-98E51854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4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020333B0-1CAE-430D-B952-937238FB78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B51A73-7DE6-4977-A7BA-D1AEB318D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4"/>
          </a:xfrm>
        </p:spPr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91E7785C-B2DA-445A-8513-43365E7B65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E15DF9-BADC-4713-B425-5FBCBDFC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6797152-7E7C-4480-8018-9E8F7657699D}" type="datetime1"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DC56D3FE-ED6E-4A0D-913D-10B38D7010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1E82FC-68A4-41AF-B568-31C9381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41D85475-A45F-47DF-86C2-B8D32F1B04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653D2A-9C7B-4D18-B9E0-5894D121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5A805958-A882-432E-BD4E-8520698E33BB}" type="slidenum">
              <a:t>‹#›</a:t>
            </a:fld>
            <a:endParaRPr lang="en-US" dirty="0"/>
          </a:p>
        </p:txBody>
      </p:sp>
    </p:spTree>
    <p:extLst>
      <p:ext uri="{27B95B3F-ACF4-4F7E-8566-3DF6BA7239E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9CABD2A1-7727-46B7-85AE-3E755486E8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F8CBD3-3869-461A-A2DC-CFEC9438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1D0B3B92-C062-4CBB-BA97-008C8245224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B7EEF7-DBB5-4933-85E2-DE9A209A5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21D779B-7B1C-4969-9A7D-6B8953FA05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543D72-D570-4989-AC82-72BFA4BD2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06672-5881-4C75-9D50-2EDBDA7EB5FB}" type="datetime1"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E55FEF9D-6C24-48B0-A6E1-752281AEA00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92C7A1-E9A8-4ACC-86B5-06A90DD32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64C642C4-84B7-4044-8337-1EE51A53A9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5DA6CA-CAF2-4080-9A7F-B5B6F59CE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7202F-A91A-46B3-BEDC-995D96A0B361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ctr" rtl="0"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ct val="20000"/>
        </a:spcBef>
        <a:buChar char="•"/>
        <a:defRPr lang="en-US" sz="320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ct val="20000"/>
        </a:spcBef>
        <a:buChar char="–"/>
        <a:defRPr lang="en-US" sz="2800" dirty="0">
          <a:solidFill>
            <a:schemeClr val="tx1"/>
          </a:solidFill>
          <a:latin typeface="+mn-lt"/>
        </a:defRPr>
      </a:lvl2pPr>
      <a:lvl3pPr marL="1143000" lvl="2" indent="-228600" algn="l" rtl="0">
        <a:spcBef>
          <a:spcPct val="20000"/>
        </a:spcBef>
        <a:buChar char="•"/>
        <a:defRPr lang="en-US" sz="2400" dirty="0">
          <a:solidFill>
            <a:schemeClr val="tx1"/>
          </a:solidFill>
          <a:latin typeface="+mn-lt"/>
        </a:defRPr>
      </a:lvl3pPr>
      <a:lvl4pPr marL="1600200" lvl="3" indent="-228600" algn="l" rtl="0">
        <a:spcBef>
          <a:spcPct val="20000"/>
        </a:spcBef>
        <a:buChar char="–"/>
        <a:defRPr lang="en-US" sz="2000" dirty="0">
          <a:solidFill>
            <a:schemeClr val="tx1"/>
          </a:solidFill>
          <a:latin typeface="+mn-lt"/>
        </a:defRPr>
      </a:lvl4pPr>
      <a:lvl5pPr marL="2057400" lvl="4" indent="-228600" algn="l" rtl="0">
        <a:spcBef>
          <a:spcPct val="20000"/>
        </a:spcBef>
        <a:buChar char="»"/>
        <a:defRPr lang="en-US" sz="2000" dirty="0">
          <a:solidFill>
            <a:schemeClr val="tx1"/>
          </a:solidFill>
          <a:latin typeface="+mn-lt"/>
        </a:defRPr>
      </a:lvl5pPr>
      <a:lvl6pPr marL="2514600" lvl="5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6pPr>
      <a:lvl7pPr marL="2971800" lvl="6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7pPr>
      <a:lvl8pPr marL="3429000" lvl="7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8pPr>
      <a:lvl9pPr marL="3886200" lvl="8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astapi.tiangolo.com" TargetMode="External"/><Relationship Id="rId5" Type="http://schemas.openxmlformats.org/officeDocument/2006/relationships/hyperlink" Target="https://www.arduino.cc/" TargetMode="Externa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A15161B6-1919-4270-B11F-558F385B8C3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A66E3-C1C8-450F-9BC1-5D5DBC0395F1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F060F22B-ED94-462E-92A1-1FF10352F72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B73FBA-7B48-406D-8F2C-0A42BC45074E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252D93F7-66B7-4E44-B578-78BAF5C10BD8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0AECCD-1C8F-4257-86AC-4346CD8F44E0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grpSp>
        <p:nvGrpSpPr>
          <p:cNvPr id="5" name="Group 5">
            <a:extLst>
              <a:ext uri="{EDD2414A-CA57-4CC4-A5D1-ABD2666959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212027-7404-47F9-B895-C8865E6A1C4C}"/>
              </a:ext>
            </a:extLst>
          </p:cNvPr>
          <p:cNvGrpSpPr/>
          <p:nvPr/>
        </p:nvGrpSpPr>
        <p:grpSpPr>
          <a:xfrm>
            <a:off x="1869853" y="862526"/>
            <a:ext cx="16099829" cy="5573514"/>
            <a:chOff x="0" y="0"/>
            <a:chExt cx="11538883" cy="3994584"/>
          </a:xfrm>
        </p:grpSpPr>
        <p:sp>
          <p:nvSpPr>
            <p:cNvPr id="6" name="Freeform 6">
              <a:extLst>
                <a:ext uri="{58311AF7-194F-4464-A1A2-D7D87E3D2453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B23FDBB-E72A-47F4-A124-B9A0B0DA41B1}"/>
                </a:ext>
              </a:extLst>
            </p:cNvPr>
            <p:cNvSpPr/>
            <p:nvPr/>
          </p:nvSpPr>
          <p:spPr>
            <a:xfrm>
              <a:off x="0" y="0"/>
              <a:ext cx="11520679" cy="3677727"/>
            </a:xfrm>
            <a:custGeom>
              <a:avLst/>
              <a:gdLst/>
              <a:ahLst/>
              <a:cxnLst/>
              <a:rect l="0" t="0" r="r" b="b"/>
              <a:pathLst>
                <a:path w="11520678" h="3677727">
                  <a:moveTo>
                    <a:pt x="0" y="0"/>
                  </a:moveTo>
                  <a:lnTo>
                    <a:pt x="11520679" y="0"/>
                  </a:lnTo>
                  <a:lnTo>
                    <a:pt x="11520679" y="3677727"/>
                  </a:lnTo>
                  <a:lnTo>
                    <a:pt x="0" y="3677727"/>
                  </a:lnTo>
                  <a:close/>
                </a:path>
              </a:pathLst>
            </a:custGeom>
            <a:blipFill dpi="0" rotWithShape="1">
              <a:blip r:embed="rId3">
                <a:alphaModFix amt="0"/>
              </a:blip>
              <a:stretch>
                <a:fillRect l="-12309" r="-3556" b="-4144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363BD5E9-761B-4C27-9898-3FBD3C344116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359DE8-9FFC-4A6D-9051-7F71091C3591}"/>
                </a:ext>
              </a:extLst>
            </p:cNvPr>
            <p:cNvSpPr txBox="1"/>
            <p:nvPr/>
          </p:nvSpPr>
          <p:spPr>
            <a:xfrm>
              <a:off x="18210" y="326383"/>
              <a:ext cx="11520673" cy="366820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295"/>
                </a:lnSpc>
              </a:pPr>
              <a:r>
                <a:rPr lang="en-US" sz="4413" b="1" dirty="0">
                  <a:solidFill>
                    <a:srgbClr val="572314"/>
                  </a:solidFill>
                  <a:latin typeface="Montserrat"/>
                </a:rPr>
                <a:t>1st National Conference On </a:t>
              </a:r>
            </a:p>
            <a:p>
              <a:pPr algn="ctr">
                <a:lnSpc>
                  <a:spcPts val="5295"/>
                </a:lnSpc>
              </a:pPr>
              <a:r>
                <a:rPr lang="en-US" sz="4413" b="1" dirty="0">
                  <a:solidFill>
                    <a:srgbClr val="572314"/>
                  </a:solidFill>
                  <a:latin typeface="Montserrat"/>
                </a:rPr>
                <a:t>VLSI, SIGNAL PROCESSING, IOT &amp; COMMUNICATION</a:t>
              </a:r>
            </a:p>
            <a:p>
              <a:pPr algn="ctr">
                <a:lnSpc>
                  <a:spcPts val="5295"/>
                </a:lnSpc>
              </a:pPr>
              <a:r>
                <a:rPr lang="en-US" sz="4413" b="1" dirty="0">
                  <a:solidFill>
                    <a:srgbClr val="572314"/>
                  </a:solidFill>
                  <a:latin typeface="Montserrat"/>
                </a:rPr>
                <a:t>ENGINEERING (VSPICE-2026)</a:t>
              </a:r>
            </a:p>
            <a:p>
              <a:pPr algn="ctr">
                <a:lnSpc>
                  <a:spcPts val="5775"/>
                </a:lnSpc>
              </a:pPr>
              <a:endParaRPr lang="en-US" sz="4413" b="1" dirty="0">
                <a:solidFill>
                  <a:srgbClr val="572314"/>
                </a:solidFill>
                <a:latin typeface="Montserrat"/>
              </a:endParaRPr>
            </a:p>
            <a:p>
              <a:pPr algn="ctr">
                <a:lnSpc>
                  <a:spcPts val="5263"/>
                </a:lnSpc>
              </a:pPr>
              <a:r>
                <a:rPr lang="en-US" sz="4386" b="1" dirty="0">
                  <a:solidFill>
                    <a:srgbClr val="0070C0"/>
                  </a:solidFill>
                  <a:latin typeface="Montserrat"/>
                </a:rPr>
                <a:t>Buddha Institute of  Technology</a:t>
              </a:r>
            </a:p>
            <a:p>
              <a:pPr algn="ctr">
                <a:lnSpc>
                  <a:spcPts val="5263"/>
                </a:lnSpc>
              </a:pPr>
              <a:r>
                <a:rPr lang="en-US" sz="4386" b="1" dirty="0">
                  <a:solidFill>
                    <a:srgbClr val="0070C0"/>
                  </a:solidFill>
                  <a:latin typeface="Montserrat"/>
                </a:rPr>
                <a:t>GIDA, Gorakhpur </a:t>
              </a:r>
            </a:p>
            <a:p>
              <a:pPr algn="ctr">
                <a:lnSpc>
                  <a:spcPts val="3464"/>
                </a:lnSpc>
              </a:pPr>
              <a:endParaRPr lang="en-US" sz="4386" b="1" dirty="0">
                <a:solidFill>
                  <a:srgbClr val="0070C0"/>
                </a:solidFill>
                <a:latin typeface="Montserrat"/>
              </a:endParaRPr>
            </a:p>
            <a:p>
              <a:pPr algn="ctr">
                <a:lnSpc>
                  <a:spcPts val="3599"/>
                </a:lnSpc>
              </a:pPr>
              <a:r>
                <a:rPr lang="en-US" sz="2999" b="1" dirty="0">
                  <a:solidFill>
                    <a:srgbClr val="572314"/>
                  </a:solidFill>
                  <a:latin typeface="Montserrat"/>
                </a:rPr>
                <a:t> </a:t>
              </a:r>
            </a:p>
          </p:txBody>
        </p:sp>
      </p:grpSp>
      <p:sp>
        <p:nvSpPr>
          <p:cNvPr id="8" name="TextBox 8">
            <a:extLst>
              <a:ext uri="{AA6D8A41-9903-428C-9DB7-1282E89BA3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4828F-15DC-454C-A63E-BE6CE99E33F6}"/>
              </a:ext>
            </a:extLst>
          </p:cNvPr>
          <p:cNvSpPr txBox="1"/>
          <p:nvPr/>
        </p:nvSpPr>
        <p:spPr>
          <a:xfrm>
            <a:off x="1539877" y="6410021"/>
            <a:ext cx="1674812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6"/>
              </a:lnSpc>
            </a:pPr>
            <a:r>
              <a:rPr lang="en-US" sz="5521" b="1" dirty="0" err="1">
                <a:solidFill>
                  <a:srgbClr val="0070C0"/>
                </a:solidFill>
                <a:latin typeface="Playfair Display"/>
              </a:rPr>
              <a:t>HybridX</a:t>
            </a:r>
            <a:r>
              <a:rPr lang="en-US" sz="5521" b="1" dirty="0">
                <a:solidFill>
                  <a:srgbClr val="0070C0"/>
                </a:solidFill>
                <a:latin typeface="Playfair Display"/>
              </a:rPr>
              <a:t> car</a:t>
            </a:r>
          </a:p>
        </p:txBody>
      </p:sp>
      <p:sp>
        <p:nvSpPr>
          <p:cNvPr id="9" name="TextBox 9">
            <a:extLst>
              <a:ext uri="{0ECB0407-CCCD-4EC8-928B-6A2E111779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1A3F4C-A9A3-4F8F-BDB6-8CD098AEB208}"/>
              </a:ext>
            </a:extLst>
          </p:cNvPr>
          <p:cNvSpPr txBox="1"/>
          <p:nvPr/>
        </p:nvSpPr>
        <p:spPr>
          <a:xfrm>
            <a:off x="1539878" y="7677150"/>
            <a:ext cx="16748121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3093" b="1" dirty="0">
                <a:solidFill>
                  <a:srgbClr val="000000"/>
                </a:solidFill>
                <a:latin typeface="Montserrat"/>
              </a:rPr>
              <a:t>Aashish Yadav</a:t>
            </a:r>
          </a:p>
          <a:p>
            <a:pPr algn="ctr">
              <a:lnSpc>
                <a:spcPts val="3712"/>
              </a:lnSpc>
            </a:pPr>
            <a:r>
              <a:rPr lang="en-US" sz="3093" dirty="0">
                <a:latin typeface="Montserrat"/>
              </a:rPr>
              <a:t>Electronics &amp; Communication Engineering</a:t>
            </a:r>
            <a:r>
              <a:rPr lang="en-US" sz="3093" dirty="0">
                <a:solidFill>
                  <a:srgbClr val="737373"/>
                </a:solidFill>
                <a:latin typeface="Montserrat"/>
              </a:rPr>
              <a:t>|</a:t>
            </a:r>
            <a:r>
              <a:rPr lang="en-US" sz="3093" dirty="0">
                <a:solidFill>
                  <a:srgbClr val="000000"/>
                </a:solidFill>
                <a:latin typeface="Montserrat"/>
              </a:rPr>
              <a:t> 3rd Year</a:t>
            </a:r>
          </a:p>
          <a:p>
            <a:pPr algn="ctr">
              <a:lnSpc>
                <a:spcPts val="3712"/>
              </a:lnSpc>
            </a:pPr>
            <a:r>
              <a:rPr lang="en-US" sz="3093" dirty="0">
                <a:solidFill>
                  <a:srgbClr val="000000"/>
                </a:solidFill>
                <a:latin typeface="Montserrat"/>
              </a:rPr>
              <a:t>Guided by : Mr. Akhilesh Mishra</a:t>
            </a:r>
          </a:p>
          <a:p>
            <a:pPr algn="ctr">
              <a:lnSpc>
                <a:spcPts val="3712"/>
              </a:lnSpc>
            </a:pPr>
            <a:endParaRPr lang="en-US" sz="3093" dirty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0" name="Freeform 10">
            <a:extLst>
              <a:ext uri="{D6ADC318-DF1E-437F-8848-D2FA20562D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CB5A6-3094-445D-A20F-32DC99911EF2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sp>
        <p:nvSpPr>
          <p:cNvPr id="11" name="Freeform 11">
            <a:extLst>
              <a:ext uri="{A199696B-4464-420F-9631-4FD06656467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6D1AB95-8EE0-49F4-9274-030E91318E62}"/>
              </a:ext>
            </a:extLst>
          </p:cNvPr>
          <p:cNvSpPr/>
          <p:nvPr/>
        </p:nvSpPr>
        <p:spPr>
          <a:xfrm>
            <a:off x="0" y="21048"/>
            <a:ext cx="2257371" cy="2257371"/>
          </a:xfrm>
          <a:custGeom>
            <a:avLst/>
            <a:gdLst/>
            <a:ahLst/>
            <a:cxnLst/>
            <a:rect l="0" t="0" r="r" b="b"/>
            <a:pathLst>
              <a:path w="2257371" h="2257371">
                <a:moveTo>
                  <a:pt x="0" y="0"/>
                </a:moveTo>
                <a:lnTo>
                  <a:pt x="2257371" y="0"/>
                </a:lnTo>
                <a:lnTo>
                  <a:pt x="2257371" y="2257371"/>
                </a:lnTo>
                <a:lnTo>
                  <a:pt x="0" y="2257371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</p:spTree>
    <p:extLst>
      <p:ext uri="{39A89397-5B3A-4309-BB3C-3A0D993B189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D84AB636-4D39-4B5A-87F1-5FA83647DB3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31DC76-FE34-41B7-B1C2-4674811C121C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10B49328-49F7-4390-92A2-17C89828FF0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1173D5-51AA-4A08-92D6-C1F59109FF89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31E70D39-B2DB-402F-8E11-8711A2BF8465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E6C559-545C-4417-A644-5B71D67BF2FA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F7BC65A2-D242-412A-B109-77A3CD9B64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9680AF-6DF6-4F77-B014-35B66098264B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sp>
        <p:nvSpPr>
          <p:cNvPr id="7" name="TextBox 7">
            <a:extLst>
              <a:ext uri="{50E9694F-56D4-4E94-9973-7EFAC0339E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7B8F9A-D058-4878-B964-87EC5B592B1F}"/>
              </a:ext>
            </a:extLst>
          </p:cNvPr>
          <p:cNvSpPr txBox="1"/>
          <p:nvPr/>
        </p:nvSpPr>
        <p:spPr>
          <a:xfrm>
            <a:off x="2427043" y="2278419"/>
            <a:ext cx="11908605" cy="710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Introduction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20E04"/>
                </a:solidFill>
                <a:latin typeface="Canva Sans" panose="020B0604020202020204" charset="0"/>
                <a:cs typeface="Canva Sans" panose="020B0604020202020204" charset="0"/>
              </a:rPr>
              <a:t>Problem Statement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20E04"/>
                </a:solidFill>
                <a:latin typeface="Canva Sans" panose="020B0604020202020204" charset="0"/>
                <a:cs typeface="Canva Sans" panose="020B0604020202020204" charset="0"/>
              </a:rPr>
              <a:t>Objectives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Literature Survey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Proposed Solution / Methodology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Results &amp; Analysis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Conclusion &amp; Future Work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Acknowledgements</a:t>
            </a:r>
          </a:p>
          <a:p>
            <a:pPr marL="427228" lvl="1" indent="-213614" algn="l">
              <a:lnSpc>
                <a:spcPct val="150000"/>
              </a:lnSpc>
              <a:buChar char="•"/>
            </a:pPr>
            <a:r>
              <a:rPr lang="en-US" sz="3200" dirty="0">
                <a:solidFill>
                  <a:srgbClr val="3B1D15"/>
                </a:solidFill>
                <a:latin typeface="Canva Sans" panose="020B0604020202020204" charset="0"/>
                <a:cs typeface="Canva Sans" panose="020B0604020202020204" charset="0"/>
              </a:rPr>
              <a:t>References</a:t>
            </a:r>
          </a:p>
          <a:p>
            <a:pPr marL="427228" lvl="1" indent="-213614" algn="l">
              <a:lnSpc>
                <a:spcPts val="3600"/>
              </a:lnSpc>
            </a:pPr>
            <a:endParaRPr lang="en-US" sz="3000" dirty="0">
              <a:solidFill>
                <a:srgbClr val="3B1D15"/>
              </a:solidFill>
              <a:latin typeface="Montserrat"/>
            </a:endParaRPr>
          </a:p>
        </p:txBody>
      </p:sp>
      <p:grpSp>
        <p:nvGrpSpPr>
          <p:cNvPr id="8" name="Group 8">
            <a:extLst>
              <a:ext uri="{164E394B-27D7-4240-AB9D-9A7594964E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E0FDCD9-AC9D-439A-B608-D48B266760A0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9" name="Freeform 9">
              <a:extLst>
                <a:ext uri="{A82711F3-EFE5-4867-9AB6-D61C836019E4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BF79004-BE31-467D-A15A-B3A38439D4A0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10" name="TextBox 10">
              <a:extLst>
                <a:ext uri="{E79337F2-831A-4B02-851C-DCB3DC7FFFA8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AC13B9-4473-4E8C-B074-CEB7BDFC54EA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Contents</a:t>
              </a:r>
            </a:p>
          </p:txBody>
        </p:sp>
      </p:grpSp>
    </p:spTree>
    <p:extLst>
      <p:ext uri="{E761B6F9-3DD9-4010-BAEB-9D169B26296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5311A853-9599-4E21-A98E-121E00FDD6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BD9DAA-1C10-46AF-8DBA-B36EF339AB9A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BDB35512-5005-44F6-9E7A-050D577D71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02F2FA-84B8-4BED-ABC2-2B51C6E425A5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A76ACCDD-008E-4965-8C3E-88021BD02F45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69A102-F1D7-4873-999F-1EFFCDE415DD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C2D182D2-EC55-458F-A76E-26AE61922A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AE6495-5DD5-4007-94B0-3CBBF3942566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A6407DD5-479B-49B8-AE55-13ACB64C8A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D864B7-8BD0-42E4-AE91-D4F19AA3D4D8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8" name="Freeform 8">
              <a:extLst>
                <a:ext uri="{33AA3251-FD7C-4A7A-AA90-F4BFB547E485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066D19-43B1-4098-AF6D-FDAC7B0B9F48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B8B1BFAF-80C5-4CBA-AC05-552149B8C3C2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96173A-8477-4E7B-8E27-AA52A59F815A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Introduction</a:t>
              </a:r>
            </a:p>
          </p:txBody>
        </p:sp>
      </p:grpSp>
      <p:sp>
        <p:nvSpPr>
          <p:cNvPr id="23" name="TextBox 23">
            <a:extLst>
              <a:ext uri="{15E3FCEF-724E-4C9C-9CA7-3FFF800B1A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1BC3E9-95E0-4F04-80AE-F87CDD2F231A}"/>
              </a:ext>
            </a:extLst>
          </p:cNvPr>
          <p:cNvSpPr txBox="1"/>
          <p:nvPr/>
        </p:nvSpPr>
        <p:spPr>
          <a:xfrm>
            <a:off x="1868071" y="9218705"/>
            <a:ext cx="1607584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  <a:spcBef>
                <a:spcPct val="0"/>
              </a:spcBef>
            </a:pPr>
            <a:r>
              <a:rPr lang="en-US" sz="2700" spc="-16" dirty="0">
                <a:solidFill>
                  <a:srgbClr val="FFFFFF"/>
                </a:solidFill>
                <a:latin typeface="Canva Sans"/>
              </a:rPr>
              <a:t>.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A13E8EE0-1BBA-F176-2C1C-FF224F60B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043" y="3207690"/>
            <a:ext cx="1001082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Arduino-based smart robotic vehicle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Works in Remote, Voice &amp; Automatic modes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Ultrasonic sensor for obstacle detection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Provides safety and intelligent movement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Combines manual and autonomous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Smart and flexible robotic transportation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C16FA29-D09D-AD2F-5DDD-5FFA4F2273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r="5455"/>
          <a:stretch>
            <a:fillRect/>
          </a:stretch>
        </p:blipFill>
        <p:spPr>
          <a:xfrm>
            <a:off x="11658600" y="2873321"/>
            <a:ext cx="5562600" cy="54700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28FB7AE-A634-FE2C-A9AE-B1A343B668E8}"/>
              </a:ext>
            </a:extLst>
          </p:cNvPr>
          <p:cNvSpPr/>
          <p:nvPr/>
        </p:nvSpPr>
        <p:spPr>
          <a:xfrm>
            <a:off x="11417808" y="4227719"/>
            <a:ext cx="2040128" cy="838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0AF875CA-1289-4774-A577-4674602CDD9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5CBA8E91-DF5E-4C56-A2ED-891A091955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417693-8EE2-4BAF-991C-37BD3C2883B6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4BD67907-4745-4098-BBF5-C43F086446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53C3A2-6112-45C1-B852-5677E112E4AB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2DC9AC27-7A07-44A4-B9F9-FBE6C5F98B54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D5B063-D2A2-42D9-B1AB-69E4AFEE54CA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CA6708B7-3AB6-4160-8CAE-FAA775B882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9F900E-E081-4CA3-AF52-3A97B6665F03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994FB40B-AE19-4202-A820-D235F1ED0D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DA8694-45A4-4756-98B8-FF5C4F30ABE6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8" name="Freeform 8">
              <a:extLst>
                <a:ext uri="{CBC644F6-6DC8-40FE-906A-A4FD2CBF0CB5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DB22F8-E2EE-4C04-804F-FA950379E3BE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3BBC7B16-B905-4F28-A3B8-1321B79979B9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8744D0-EB84-4F71-95B7-EA4BA3509542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Problem Statement</a:t>
              </a:r>
            </a:p>
          </p:txBody>
        </p:sp>
      </p:grpSp>
      <p:sp>
        <p:nvSpPr>
          <p:cNvPr id="13" name="TextBox 14">
            <a:extLst>
              <a:ext uri="{6E1B6EF9-72E4-469D-8F09-91BAD90A31F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21DCFB2-E66E-479C-A68C-6871C5AA3131}"/>
              </a:ext>
            </a:extLst>
          </p:cNvPr>
          <p:cNvSpPr txBox="1"/>
          <p:nvPr/>
        </p:nvSpPr>
        <p:spPr>
          <a:xfrm>
            <a:off x="3997408" y="2699407"/>
            <a:ext cx="12745865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3000" spc="-18" dirty="0">
                <a:solidFill>
                  <a:srgbClr val="FFFFFF"/>
                </a:solidFill>
                <a:latin typeface="Canva Sans"/>
              </a:rPr>
              <a:t>Measurable economic loss &amp; erosion of civic trust.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ABF4EE-46AD-FF96-4D3D-013B9BBDD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89980"/>
              </p:ext>
            </p:extLst>
          </p:nvPr>
        </p:nvGraphicFramePr>
        <p:xfrm>
          <a:off x="2427043" y="3238500"/>
          <a:ext cx="1274586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2932">
                  <a:extLst>
                    <a:ext uri="{9D8B030D-6E8A-4147-A177-3AD203B41FA5}">
                      <a16:colId xmlns:a16="http://schemas.microsoft.com/office/drawing/2014/main" val="1020509816"/>
                    </a:ext>
                  </a:extLst>
                </a:gridCol>
                <a:gridCol w="6372932">
                  <a:extLst>
                    <a:ext uri="{9D8B030D-6E8A-4147-A177-3AD203B41FA5}">
                      <a16:colId xmlns:a16="http://schemas.microsoft.com/office/drawing/2014/main" val="1741672111"/>
                    </a:ext>
                  </a:extLst>
                </a:gridCol>
              </a:tblGrid>
              <a:tr h="1036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nva Sans" panose="020B0604020202020204" charset="0"/>
                          <a:cs typeface="Canva Sans" panose="020B0604020202020204" charset="0"/>
                        </a:rPr>
                        <a:t>Triggers</a:t>
                      </a:r>
                      <a:endParaRPr lang="en-IN" sz="2400" dirty="0">
                        <a:latin typeface="Canva Sans" panose="020B0604020202020204" charset="0"/>
                        <a:cs typeface="Canva Sans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Canva Sans" panose="020B0604020202020204" charset="0"/>
                          <a:cs typeface="Canva Sans" panose="020B0604020202020204" charset="0"/>
                        </a:rPr>
                        <a:t>Results</a:t>
                      </a:r>
                      <a:endParaRPr lang="en-IN" sz="2400">
                        <a:latin typeface="Canva Sans" panose="020B0604020202020204" charset="0"/>
                        <a:cs typeface="Canva Sans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96633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Single control mode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Higher risk of collisions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657663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Limited obstacle detection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Inefficient navigation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826067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No remote, voice &amp; auto integration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Lack of intelligent decisions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332715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Reduced manual 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Need for safe multi-mode robotic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266476"/>
                  </a:ext>
                </a:extLst>
              </a:tr>
            </a:tbl>
          </a:graphicData>
        </a:graphic>
      </p:graphicFrame>
    </p:spTree>
    <p:extLst>
      <p:ext uri="{F2D5BE4F-C13F-4D52-BF92-8FCCAEC405C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EF02BF96-C7CE-4E3B-ABDB-A84686DD14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1A9A3F-C624-4CA5-85B1-CEE1735F80B6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534E37D6-EF92-4D5A-9F85-C6BF06536F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CC524E-A7A2-4ACC-8C41-708CF1DBB88F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778B4269-9BA0-4CBF-9CEF-BF10CBE7540D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E17263C-31FA-4EE6-94E9-5DE4C84FE51A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81E92DFF-C197-40E5-A8D9-02140D0942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41FF5F-0EB2-49D4-A661-B41D987E0A9A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75E5FE26-FCC9-4C92-820D-1833F3E262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A6D2BC-2548-4D01-BAFA-95072DCE5FF3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8" name="Freeform 8">
              <a:extLst>
                <a:ext uri="{132CF486-14C0-44F1-BEC5-5481C6C3C83F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BE1DEE3-8D4E-4977-A797-2C4291FB523B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5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26CDEF9D-EBB7-47A8-83F2-74E51A5A21DE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B3EF67-1849-401E-A5A3-B3BA083C321C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Objectives</a:t>
              </a:r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91DD4B86-0521-C1BD-1033-DD618F90C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371" y="2437652"/>
            <a:ext cx="1125821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To design a multi-mode robotic vehicle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To integrate remote, voice, and autonomous control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To implement obstacle detection for enhanced safety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To enable smooth switching between control modes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va Sans" panose="020B0604020202020204" charset="0"/>
                <a:cs typeface="Canva Sans" panose="020B0604020202020204" charset="0"/>
              </a:rPr>
              <a:t>To improve navigation efficiency in dynamic environments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Graphic 23" descr="Car with solid fill">
            <a:extLst>
              <a:ext uri="{FF2B5EF4-FFF2-40B4-BE49-F238E27FC236}">
                <a16:creationId xmlns:a16="http://schemas.microsoft.com/office/drawing/2014/main" id="{D8B396C9-D16E-D269-53D3-2386B833C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7110" y="6798010"/>
            <a:ext cx="2003090" cy="20030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19C6701-69F7-6759-0FCF-B4F7CF773457}"/>
              </a:ext>
            </a:extLst>
          </p:cNvPr>
          <p:cNvSpPr/>
          <p:nvPr/>
        </p:nvSpPr>
        <p:spPr>
          <a:xfrm>
            <a:off x="13335000" y="7186618"/>
            <a:ext cx="2194319" cy="108501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obstacle</a:t>
            </a:r>
            <a:endParaRPr lang="en-IN" sz="3200" dirty="0"/>
          </a:p>
        </p:txBody>
      </p:sp>
    </p:spTree>
    <p:extLst>
      <p:ext uri="{A40C6F5D-138C-446D-9D6F-E8A3BF04960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31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08 -0.02624 L 0.40894 -0.01374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51" y="6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4 -0.01374 L 0.40894 0.1689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4 0.16898 L 0.70885 0.17886 " pathEditMode="relative" rAng="0" ptsTypes="AA">
                                      <p:cBhvr>
                                        <p:cTn id="12" dur="2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636AFBA7-7ECD-4942-9D58-BADB91FAD8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E297017-D7B5-42C6-A4BF-FA62C92975ED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477EA76A-014E-4E4E-91E6-C6D8495806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CD02F4-817A-4BA2-9623-7F5FF81508C4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043E88D9-3E1A-49C1-BC1B-CD08332C4E93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0B382C-14CC-443B-87FC-1D952ABC994F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E9031EA8-C4D5-4B94-9440-1687BE2847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0D00AC-EF4C-4014-A178-9A193C9BB0E7}"/>
              </a:ext>
            </a:extLst>
          </p:cNvPr>
          <p:cNvSpPr/>
          <p:nvPr/>
        </p:nvSpPr>
        <p:spPr>
          <a:xfrm>
            <a:off x="0" y="-22031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1BA929F5-6FC5-45A5-A70E-E981CA682EE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32929E-EE7C-46CB-A6FD-DC02729CDBA2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8" name="Freeform 8">
              <a:extLst>
                <a:ext uri="{0F307A76-4DD3-484D-B6AF-DF59AE3DB448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F4E636-1226-471A-909D-8FA44B37D8FF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A5A09834-9C2F-46DF-9B53-5191C9E3FC69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EA5517-0900-4788-BAB7-562C3043C1B6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Literature Survey</a:t>
              </a:r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B13F02-4BA1-8943-44A0-09E29565F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554057"/>
              </p:ext>
            </p:extLst>
          </p:nvPr>
        </p:nvGraphicFramePr>
        <p:xfrm>
          <a:off x="2590800" y="2437652"/>
          <a:ext cx="14706600" cy="659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73933495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985954122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617998934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36429071"/>
                    </a:ext>
                  </a:extLst>
                </a:gridCol>
              </a:tblGrid>
              <a:tr h="10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Existing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Our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032526"/>
                  </a:ext>
                </a:extLst>
              </a:tr>
              <a:tr h="10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Arduino-based obstacle avoiding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Research papers &amp; basic prototypes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Only automatic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Multi-mode control added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531643"/>
                  </a:ext>
                </a:extLst>
              </a:tr>
              <a:tr h="10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Voice controlled robotic 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Bluetooth/voice command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No obstacle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Voice + safety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620088"/>
                  </a:ext>
                </a:extLst>
              </a:tr>
              <a:tr h="10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Remote controlled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RF/Bluetooth remote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Fully manual, less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Remote with intelligent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115937"/>
                  </a:ext>
                </a:extLst>
              </a:tr>
              <a:tr h="10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Ultrasonic sensor navigation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Sensor-based navigation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Single-mode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Integrated multi-mode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38108"/>
                  </a:ext>
                </a:extLst>
              </a:tr>
              <a:tr h="10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Autonomous obstacle avoidance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Basic AI/automation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No manual 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Manual + autonomous combined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758708"/>
                  </a:ext>
                </a:extLst>
              </a:tr>
            </a:tbl>
          </a:graphicData>
        </a:graphic>
      </p:graphicFrame>
    </p:spTree>
    <p:extLst>
      <p:ext uri="{2E019D39-7A67-4401-B03D-C2BFB7BB8F1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932A3E2C-4E93-4EBD-BA70-85E020352E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7E7FE3-CB1F-4ADC-8E1E-E4D449F26795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D272D5BD-F900-4815-9203-E0469C1488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172677-CFC4-4B0B-A84F-4A934D395EF9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5F343264-0E50-46F5-9282-B0B49BDD7F55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78C6F5-893A-4877-860F-DAE1C452593E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2B45E002-E985-42AD-BFA1-14F46D19D8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F16607-9AA4-4F70-BEF9-FC727ECB8B8E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57E97DCC-1FC2-484A-AB21-B57A7697FB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6EF333-CA84-4423-96C4-C33BEB5586CE}"/>
              </a:ext>
            </a:extLst>
          </p:cNvPr>
          <p:cNvGrpSpPr/>
          <p:nvPr/>
        </p:nvGrpSpPr>
        <p:grpSpPr>
          <a:xfrm>
            <a:off x="2369424" y="548134"/>
            <a:ext cx="14318376" cy="1203203"/>
            <a:chOff x="0" y="0"/>
            <a:chExt cx="19091166" cy="1604270"/>
          </a:xfrm>
        </p:grpSpPr>
        <p:sp>
          <p:nvSpPr>
            <p:cNvPr id="8" name="Freeform 8">
              <a:extLst>
                <a:ext uri="{63AC6848-2E14-4DC4-8BE5-81FF47994D60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A9C404-D97F-46D9-BBD9-FA1B25AF3803}"/>
                </a:ext>
              </a:extLst>
            </p:cNvPr>
            <p:cNvSpPr/>
            <p:nvPr/>
          </p:nvSpPr>
          <p:spPr>
            <a:xfrm>
              <a:off x="0" y="0"/>
              <a:ext cx="18065536" cy="1604270"/>
            </a:xfrm>
            <a:custGeom>
              <a:avLst/>
              <a:gdLst/>
              <a:ahLst/>
              <a:cxnLst/>
              <a:rect l="0" t="0" r="r" b="b"/>
              <a:pathLst>
                <a:path w="18065536" h="1604270">
                  <a:moveTo>
                    <a:pt x="0" y="0"/>
                  </a:moveTo>
                  <a:lnTo>
                    <a:pt x="18065536" y="0"/>
                  </a:lnTo>
                  <a:lnTo>
                    <a:pt x="18065536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r="4169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9A06D974-6DE1-4E24-ACAD-DE36D9C8140D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D28196-DFFE-45AC-8468-20AAA80F6BC0}"/>
                </a:ext>
              </a:extLst>
            </p:cNvPr>
            <p:cNvSpPr txBox="1"/>
            <p:nvPr/>
          </p:nvSpPr>
          <p:spPr>
            <a:xfrm>
              <a:off x="0" y="0"/>
              <a:ext cx="19091166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Proposed Solution / Methodology</a:t>
              </a:r>
            </a:p>
          </p:txBody>
        </p:sp>
      </p:grpSp>
      <p:sp>
        <p:nvSpPr>
          <p:cNvPr id="34" name="TextBox 68">
            <a:extLst>
              <a:ext uri="{3CE0C50C-4562-463B-9F24-6C239B6E5A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8C041F-7F18-4316-953B-FB092DA72506}"/>
              </a:ext>
            </a:extLst>
          </p:cNvPr>
          <p:cNvSpPr txBox="1"/>
          <p:nvPr/>
        </p:nvSpPr>
        <p:spPr>
          <a:xfrm>
            <a:off x="8145434" y="5171124"/>
            <a:ext cx="5095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nva Sans"/>
              </a:rPr>
              <a:t>Fix It Now Platform</a:t>
            </a:r>
          </a:p>
          <a:p>
            <a:r>
              <a:rPr lang="en-IN" sz="3200" b="1" dirty="0">
                <a:solidFill>
                  <a:schemeClr val="bg1"/>
                </a:solidFill>
                <a:latin typeface="+mj-lt"/>
              </a:rPr>
              <a:t>Smart AI Processing</a:t>
            </a:r>
          </a:p>
        </p:txBody>
      </p:sp>
      <p:graphicFrame>
        <p:nvGraphicFramePr>
          <p:cNvPr id="62" name="Diagram 61">
            <a:extLst>
              <a:ext uri="{FF2B5EF4-FFF2-40B4-BE49-F238E27FC236}">
                <a16:creationId xmlns:a16="http://schemas.microsoft.com/office/drawing/2014/main" id="{FBA75BC1-DB0F-5461-83FD-6ABDF5EBA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1856310"/>
              </p:ext>
            </p:extLst>
          </p:nvPr>
        </p:nvGraphicFramePr>
        <p:xfrm>
          <a:off x="2667000" y="3238500"/>
          <a:ext cx="8286291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03BC4DF1-F30C-53E8-5A1C-570789D8C2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t="4093" r="5789" b="19182"/>
          <a:stretch>
            <a:fillRect/>
          </a:stretch>
        </p:blipFill>
        <p:spPr>
          <a:xfrm>
            <a:off x="11646622" y="2933699"/>
            <a:ext cx="6184178" cy="6302271"/>
          </a:xfrm>
          <a:prstGeom prst="rect">
            <a:avLst/>
          </a:prstGeom>
        </p:spPr>
      </p:pic>
    </p:spTree>
    <p:extLst>
      <p:ext uri="{D202CADE-1FC8-4734-83D8-828B6A5B6CD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071AF7AF-1993-4111-AAA6-05AAD44E0C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5191AA3-C578-454D-9B02-3A931B39131C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E744DA27-8FD1-47A3-A8BA-906E9F6F6D9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0DC5EC-8C18-4DAE-A5A2-445F7FE35C21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10D26D4B-0F85-40C5-ADAC-1DA1AE8EF7D8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AE99013-7EA4-4669-B2CD-44800E6014AB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0BCB5FE4-CE0E-4EF9-A072-8AD391B156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3E1103A-F630-4915-8B16-328ADD719D2D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F968EEA1-33A0-4041-B7B5-0FFEAF8BDE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AD72EF-D14E-4788-9874-A499907FA64C}"/>
              </a:ext>
            </a:extLst>
          </p:cNvPr>
          <p:cNvGrpSpPr/>
          <p:nvPr/>
        </p:nvGrpSpPr>
        <p:grpSpPr>
          <a:xfrm>
            <a:off x="2427046" y="548135"/>
            <a:ext cx="11469833" cy="1203198"/>
            <a:chOff x="0" y="0"/>
            <a:chExt cx="15293112" cy="1604267"/>
          </a:xfrm>
        </p:grpSpPr>
        <p:sp>
          <p:nvSpPr>
            <p:cNvPr id="8" name="Freeform 8">
              <a:extLst>
                <a:ext uri="{F252E8FC-8B46-437F-91D3-83AC1D4FC38C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6D0791-5946-4697-B446-AFB3AF3B0B2D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30804693-B106-4783-B1A2-0C3FDC0C4987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81FEEA-A382-4444-97B9-36CF0CC15FAC}"/>
                </a:ext>
              </a:extLst>
            </p:cNvPr>
            <p:cNvSpPr txBox="1"/>
            <p:nvPr/>
          </p:nvSpPr>
          <p:spPr>
            <a:xfrm>
              <a:off x="4" y="1"/>
              <a:ext cx="15293111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Expected Results &amp; Analysis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61367F-0405-E605-35CD-085E999D7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572846"/>
              </p:ext>
            </p:extLst>
          </p:nvPr>
        </p:nvGraphicFramePr>
        <p:xfrm>
          <a:off x="2427046" y="3619500"/>
          <a:ext cx="9002952" cy="4326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098">
                  <a:extLst>
                    <a:ext uri="{9D8B030D-6E8A-4147-A177-3AD203B41FA5}">
                      <a16:colId xmlns:a16="http://schemas.microsoft.com/office/drawing/2014/main" val="1042193785"/>
                    </a:ext>
                  </a:extLst>
                </a:gridCol>
                <a:gridCol w="2414464">
                  <a:extLst>
                    <a:ext uri="{9D8B030D-6E8A-4147-A177-3AD203B41FA5}">
                      <a16:colId xmlns:a16="http://schemas.microsoft.com/office/drawing/2014/main" val="937185146"/>
                    </a:ext>
                  </a:extLst>
                </a:gridCol>
                <a:gridCol w="4765390">
                  <a:extLst>
                    <a:ext uri="{9D8B030D-6E8A-4147-A177-3AD203B41FA5}">
                      <a16:colId xmlns:a16="http://schemas.microsoft.com/office/drawing/2014/main" val="3996600117"/>
                    </a:ext>
                  </a:extLst>
                </a:gridCol>
              </a:tblGrid>
              <a:tr h="9361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STATUS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OBSERVATION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476164"/>
                  </a:ext>
                </a:extLst>
              </a:tr>
              <a:tr h="10292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Remote mode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Successful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Smooth wireless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56340"/>
                  </a:ext>
                </a:extLst>
              </a:tr>
              <a:tr h="118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Voice mode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Successful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Accurate command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185454"/>
                  </a:ext>
                </a:extLst>
              </a:tr>
              <a:tr h="118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Auto mode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Successful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Detected obstacles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216537"/>
                  </a:ext>
                </a:extLst>
              </a:tr>
            </a:tbl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4F1EC687-903A-1E33-EE34-ED6FE23A04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505179"/>
              </p:ext>
            </p:extLst>
          </p:nvPr>
        </p:nvGraphicFramePr>
        <p:xfrm>
          <a:off x="12420600" y="2278419"/>
          <a:ext cx="5257800" cy="6290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35F320A8-5A83-477B-8875-26F32BD46DA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B4A37FFB-DD5C-435F-8143-6FF14817705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BD324C-D2FC-41D7-B9AC-C1560FFE74AA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BC8D0262-BEF8-448F-B857-E0405A783F0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D83033-6CCF-450E-A10B-025FEFCA8E7B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5EDCDF30-A456-49A7-B3A5-7DB52EC61091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D2F6FE-0689-4841-A00F-BA5B91B36628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F252C931-5147-44C7-A4E0-0622F5DFB4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B177AD2-C2F2-4FC0-9A6F-E8F97EA46FEE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E4BAD532-B46B-4D09-A47F-F31F09C6849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1CBAF-C1BA-4B27-94B1-7C8761345204}"/>
              </a:ext>
            </a:extLst>
          </p:cNvPr>
          <p:cNvGrpSpPr/>
          <p:nvPr/>
        </p:nvGrpSpPr>
        <p:grpSpPr>
          <a:xfrm>
            <a:off x="2551186" y="548134"/>
            <a:ext cx="11550236" cy="1203198"/>
            <a:chOff x="0" y="0"/>
            <a:chExt cx="15400316" cy="1604264"/>
          </a:xfrm>
        </p:grpSpPr>
        <p:sp>
          <p:nvSpPr>
            <p:cNvPr id="8" name="Freeform 8">
              <a:extLst>
                <a:ext uri="{3E084A1E-1746-4E0A-9751-591CECB058EA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49CDC-A5A6-40CD-B169-F9F7B3DC44AA}"/>
                </a:ext>
              </a:extLst>
            </p:cNvPr>
            <p:cNvSpPr/>
            <p:nvPr/>
          </p:nvSpPr>
          <p:spPr>
            <a:xfrm>
              <a:off x="0" y="0"/>
              <a:ext cx="15400316" cy="1604270"/>
            </a:xfrm>
            <a:custGeom>
              <a:avLst/>
              <a:gdLst/>
              <a:ahLst/>
              <a:cxnLst/>
              <a:rect l="0" t="0" r="r" b="b"/>
              <a:pathLst>
                <a:path w="15400315" h="1604270">
                  <a:moveTo>
                    <a:pt x="0" y="0"/>
                  </a:moveTo>
                  <a:lnTo>
                    <a:pt x="15400316" y="0"/>
                  </a:lnTo>
                  <a:lnTo>
                    <a:pt x="15400316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r="31599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99F4E046-8FFE-4685-B6C4-51FAE9D29577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47D758-D016-4C53-96E8-4A0146E035EB}"/>
                </a:ext>
              </a:extLst>
            </p:cNvPr>
            <p:cNvSpPr txBox="1"/>
            <p:nvPr/>
          </p:nvSpPr>
          <p:spPr>
            <a:xfrm>
              <a:off x="0" y="0"/>
              <a:ext cx="15400316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Conclusion &amp; Future Work</a:t>
              </a:r>
            </a:p>
          </p:txBody>
        </p:sp>
      </p:grpSp>
      <p:sp>
        <p:nvSpPr>
          <p:cNvPr id="17" name="TextBox 21">
            <a:extLst>
              <a:ext uri="{A728DEA7-9DE5-4015-B410-71171244260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B2F511-1B2D-4081-851D-563E2B877C99}"/>
              </a:ext>
            </a:extLst>
          </p:cNvPr>
          <p:cNvSpPr txBox="1"/>
          <p:nvPr/>
        </p:nvSpPr>
        <p:spPr>
          <a:xfrm>
            <a:off x="10451383" y="3830621"/>
            <a:ext cx="4043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nva Sans"/>
              </a:rPr>
              <a:t>Advanced Integration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53C7DCB-B413-941E-ED22-91E356C52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051874"/>
              </p:ext>
            </p:extLst>
          </p:nvPr>
        </p:nvGraphicFramePr>
        <p:xfrm>
          <a:off x="2551186" y="2705100"/>
          <a:ext cx="14746214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3107">
                  <a:extLst>
                    <a:ext uri="{9D8B030D-6E8A-4147-A177-3AD203B41FA5}">
                      <a16:colId xmlns:a16="http://schemas.microsoft.com/office/drawing/2014/main" val="2956120693"/>
                    </a:ext>
                  </a:extLst>
                </a:gridCol>
                <a:gridCol w="7373107">
                  <a:extLst>
                    <a:ext uri="{9D8B030D-6E8A-4147-A177-3AD203B41FA5}">
                      <a16:colId xmlns:a16="http://schemas.microsoft.com/office/drawing/2014/main" val="1105545754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Conclusion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nva Sans" panose="020B0604020202020204" charset="0"/>
                          <a:cs typeface="Canva Sans" panose="020B0604020202020204" charset="0"/>
                        </a:rPr>
                        <a:t>Future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7491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Multi-mode robotic vehicle successfully designed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Add camera for vision-based navigation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72763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Canva Sans" panose="020B0604020202020204" charset="0"/>
                          <a:cs typeface="Canva Sans" panose="020B0604020202020204" charset="0"/>
                        </a:rPr>
                        <a:t>Remote, Voice &amp; Automatic control 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Integrate AI for smart decision making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406755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Ultrasonic-based obstacle detection improves safety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Use IoT for mobile app monitoring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132415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Canva Sans" panose="020B0604020202020204" charset="0"/>
                          <a:cs typeface="Canva Sans" panose="020B0604020202020204" charset="0"/>
                        </a:rPr>
                        <a:t>Flexible manual and autonomous operation 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Add GPS for outdoor navigation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468313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System is low-cost and efficient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Canva Sans" panose="020B0604020202020204" charset="0"/>
                          <a:cs typeface="Canva Sans" panose="020B0604020202020204" charset="0"/>
                        </a:rPr>
                        <a:t>Upgrade to advanced sensors for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633162"/>
                  </a:ext>
                </a:extLst>
              </a:tr>
            </a:tbl>
          </a:graphicData>
        </a:graphic>
      </p:graphicFrame>
    </p:spTree>
    <p:extLst>
      <p:ext uri="{E2B2873A-9574-4571-87D1-2C1EC7C0E6D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34578E20-3617-495E-A628-2B5E580B06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1763742-EEFC-482B-9567-4F05E767056F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DDE4CB56-E935-4207-A69F-FFC15A14CA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84A762-9868-4FAC-9595-A0060F417C54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E5CDEA75-D3B1-4DFF-968E-AE3C8F06014A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2AA70F-6CF5-41F2-9659-46C3D7454041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AB6609D4-73F4-48BB-AB1C-D326A2B840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B1241F-6F20-4CD7-9C96-DB3308128888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C3BEFE26-40D9-4B2D-A721-8EB56CD9B4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87A33E-962A-418C-B428-8D02CE0CA16B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8" name="Freeform 8">
              <a:extLst>
                <a:ext uri="{46BFD686-B8BA-4D8A-9847-23134EAA3518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AEDCD4-B1A4-4C79-939B-AE7827269C39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853A188D-7BBD-4A57-BA8E-368EBC68C75E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46C52D-8572-48C7-BBED-C302DBD7B94A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Acknowledgements</a:t>
              </a:r>
            </a:p>
          </p:txBody>
        </p:sp>
      </p:grpSp>
      <p:sp>
        <p:nvSpPr>
          <p:cNvPr id="10" name="TextBox 10">
            <a:extLst>
              <a:ext uri="{8F553472-D289-458D-9B2D-A4D9659A8D7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761CD7-8FC4-425C-BADD-D6D89284E407}"/>
              </a:ext>
            </a:extLst>
          </p:cNvPr>
          <p:cNvSpPr txBox="1"/>
          <p:nvPr/>
        </p:nvSpPr>
        <p:spPr>
          <a:xfrm>
            <a:off x="2257371" y="2628900"/>
            <a:ext cx="15185924" cy="596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Canva Sans"/>
              </a:rPr>
              <a:t>I would like to express our sincere gratitude to:</a:t>
            </a:r>
          </a:p>
          <a:p>
            <a:pPr algn="just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nva Sans"/>
            </a:endParaRPr>
          </a:p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Canva Sans"/>
              </a:rPr>
              <a:t>Mr. Akhilesh Mishra </a:t>
            </a:r>
            <a:r>
              <a:rPr lang="en-US" sz="2600" dirty="0">
                <a:solidFill>
                  <a:srgbClr val="000000"/>
                </a:solidFill>
                <a:latin typeface="Canva Sans"/>
              </a:rPr>
              <a:t>(Assistant Professor, ECE)</a:t>
            </a:r>
          </a:p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Canva Sans"/>
              </a:rPr>
              <a:t>for his valuable guidance, continuous support, and encouragement throughout this project.</a:t>
            </a:r>
          </a:p>
          <a:p>
            <a:pPr algn="just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nva Sans"/>
            </a:endParaRPr>
          </a:p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Canva Sans Bold"/>
              </a:rPr>
              <a:t>Department of Electronics and Communication Engineering </a:t>
            </a:r>
          </a:p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Canva Sans"/>
              </a:rPr>
              <a:t>for providing the necessary resources, learning environment, and technical support.</a:t>
            </a:r>
          </a:p>
          <a:p>
            <a:pPr algn="just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nva Sans"/>
            </a:endParaRPr>
          </a:p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Canva Sans Bold"/>
              </a:rPr>
              <a:t>Buddha Institute of Technology, GIDA, Gorakhpur</a:t>
            </a:r>
          </a:p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Canva Sans"/>
              </a:rPr>
              <a:t>for giving us the opportunity to work on this project and present it at this National Conference.</a:t>
            </a:r>
          </a:p>
          <a:p>
            <a:pPr algn="just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nva Sans"/>
            </a:endParaRPr>
          </a:p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Canva Sans Bold"/>
              </a:rPr>
              <a:t>Our Project Team Members</a:t>
            </a:r>
          </a:p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Canva Sans"/>
              </a:rPr>
              <a:t>for their teamwork, dedication, and collaborative efforts in successfully completing this work.</a:t>
            </a:r>
          </a:p>
        </p:txBody>
      </p:sp>
    </p:spTree>
    <p:extLst>
      <p:ext uri="{018480AD-B64A-481B-83ED-566718F9D86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2F6A4E5D-731F-44CD-AB6D-300279BD06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1EA3DBC-9800-452A-9A03-9ACB2A30A6A1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6FCD4269-2995-487A-B2CF-A44D66D0C5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6DC1CC6-168B-4298-A72B-D2EA6ED61622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EBE88456-C7B9-4C50-AB4F-BEF7F70D2D96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D1A549-89EA-4D63-B3A5-4B889668902A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12B650C9-C35C-4730-ABCB-102033F625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3A01CD-1534-4ACA-A0EB-4F54A01EC751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0631C7BA-4477-44CC-A3A9-940126AB417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01BAA5-DEC7-4EF1-8128-468D4705C4FC}"/>
              </a:ext>
            </a:extLst>
          </p:cNvPr>
          <p:cNvGrpSpPr/>
          <p:nvPr/>
        </p:nvGrpSpPr>
        <p:grpSpPr>
          <a:xfrm>
            <a:off x="2427043" y="548134"/>
            <a:ext cx="7900416" cy="1203198"/>
            <a:chOff x="0" y="0"/>
            <a:chExt cx="10533889" cy="1604264"/>
          </a:xfrm>
        </p:grpSpPr>
        <p:sp>
          <p:nvSpPr>
            <p:cNvPr id="8" name="Freeform 8">
              <a:extLst>
                <a:ext uri="{F2BA5F1D-FB7D-406F-9371-CF3D92620D2B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3CD701-5FC5-45DC-95C8-26F932DE5FB5}"/>
                </a:ext>
              </a:extLst>
            </p:cNvPr>
            <p:cNvSpPr/>
            <p:nvPr/>
          </p:nvSpPr>
          <p:spPr>
            <a:xfrm>
              <a:off x="0" y="0"/>
              <a:ext cx="10533889" cy="1604270"/>
            </a:xfrm>
            <a:custGeom>
              <a:avLst/>
              <a:gdLst/>
              <a:ahLst/>
              <a:cxnLst/>
              <a:rect l="0" t="0" r="r" b="b"/>
              <a:pathLst>
                <a:path w="10533888" h="1604270">
                  <a:moveTo>
                    <a:pt x="0" y="0"/>
                  </a:moveTo>
                  <a:lnTo>
                    <a:pt x="10533889" y="0"/>
                  </a:lnTo>
                  <a:lnTo>
                    <a:pt x="10533889" y="1604270"/>
                  </a:lnTo>
                  <a:lnTo>
                    <a:pt x="0" y="1604270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93230" b="-62653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9FCB8A4A-1918-4F46-A659-AE246EA0147C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951633-4C5C-419F-B766-1686DE1F06C5}"/>
                </a:ext>
              </a:extLst>
            </p:cNvPr>
            <p:cNvSpPr txBox="1"/>
            <p:nvPr/>
          </p:nvSpPr>
          <p:spPr>
            <a:xfrm>
              <a:off x="0" y="0"/>
              <a:ext cx="10533889" cy="16042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dirty="0">
                  <a:solidFill>
                    <a:srgbClr val="0070C0"/>
                  </a:solidFill>
                  <a:latin typeface="Montserrat"/>
                </a:rPr>
                <a:t>References</a:t>
              </a:r>
            </a:p>
          </p:txBody>
        </p:sp>
      </p:grpSp>
      <p:sp>
        <p:nvSpPr>
          <p:cNvPr id="10" name="Text Box 9">
            <a:extLst>
              <a:ext uri="{8C9AF7AB-5ED5-4F67-B91B-B6713DCAB4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6FB53E-C166-43D4-B6B2-5D209185BADC}"/>
              </a:ext>
            </a:extLst>
          </p:cNvPr>
          <p:cNvSpPr txBox="1"/>
          <p:nvPr/>
        </p:nvSpPr>
        <p:spPr>
          <a:xfrm>
            <a:off x="2427043" y="2437652"/>
            <a:ext cx="15257451" cy="6411820"/>
          </a:xfrm>
          <a:prstGeom prst="rect">
            <a:avLst/>
          </a:prstGeom>
        </p:spPr>
        <p:txBody>
          <a:bodyPr lIns="95250" tIns="47625" rIns="95250" bIns="47625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Canva Sans" panose="020B0604020202020204" charset="0"/>
                <a:cs typeface="Canva Sans" panose="020B0604020202020204" charset="0"/>
              </a:rPr>
              <a:t>1. Arduino Official Website, “Arduino Uno Rev3,” Available: </a:t>
            </a:r>
            <a:r>
              <a:rPr lang="en-IN" sz="2800" dirty="0">
                <a:latin typeface="Canva Sans" panose="020B0604020202020204" charset="0"/>
                <a:cs typeface="Canva Sans" panose="020B0604020202020204" charset="0"/>
                <a:hlinkClick r:id="rId5"/>
              </a:rPr>
              <a:t>https://www.arduino.cc</a:t>
            </a:r>
            <a:endParaRPr lang="en-IN" sz="2800" dirty="0">
              <a:latin typeface="Canva Sans" panose="020B0604020202020204" charset="0"/>
              <a:cs typeface="Canva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Canva Sans" panose="020B0604020202020204" charset="0"/>
                <a:cs typeface="Canva Sans" panose="020B0604020202020204" charset="0"/>
              </a:rPr>
              <a:t>2. J. Borenstein and Y. Koren, “Obstacle Avoidance with Ultrasonic Sensors,” IEEE Journal of 3. Robotics and Automation, 1988.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Canva Sans" panose="020B0604020202020204" charset="0"/>
                <a:cs typeface="Canva Sans" panose="020B0604020202020204" charset="0"/>
              </a:rPr>
              <a:t>4. HC-SR04 Ultrasonic Sensor Datasheet, Distance Measuring Module Specifications.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Canva Sans" panose="020B0604020202020204" charset="0"/>
                <a:cs typeface="Canva Sans" panose="020B0604020202020204" charset="0"/>
              </a:rPr>
              <a:t>5. Bluetooth Module HC-05 Datasheet, Wireless Serial Communication Module.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Canva Sans" panose="020B0604020202020204" charset="0"/>
                <a:cs typeface="Canva Sans" panose="020B0604020202020204" charset="0"/>
              </a:rPr>
              <a:t>6. S. Thrun, W. Burgard, and D. Fox, </a:t>
            </a:r>
            <a:r>
              <a:rPr lang="en-IN" sz="2800" i="1" dirty="0">
                <a:latin typeface="Canva Sans" panose="020B0604020202020204" charset="0"/>
                <a:cs typeface="Canva Sans" panose="020B0604020202020204" charset="0"/>
              </a:rPr>
              <a:t>Probabilistic Robotics</a:t>
            </a:r>
            <a:r>
              <a:rPr lang="en-IN" sz="2800" dirty="0">
                <a:latin typeface="Canva Sans" panose="020B0604020202020204" charset="0"/>
                <a:cs typeface="Canva Sans" panose="020B0604020202020204" charset="0"/>
              </a:rPr>
              <a:t>, MIT Press, 2005.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Calibri"/>
              </a:defRPr>
            </a:pPr>
            <a:endParaRPr lang="en-US" sz="2400" dirty="0">
              <a:solidFill>
                <a:schemeClr val="tx1"/>
              </a:solidFill>
              <a:latin typeface="Calibri"/>
              <a:hlinkClick r:id="rId6"/>
            </a:endParaRPr>
          </a:p>
        </p:txBody>
      </p:sp>
      <p:sp>
        <p:nvSpPr>
          <p:cNvPr id="11" name="Text Box 8">
            <a:extLst>
              <a:ext uri="{DB8C8686-0502-4065-B96A-6F2DA8ED62B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649631-32CF-462B-BAAF-236C30554A13}"/>
              </a:ext>
            </a:extLst>
          </p:cNvPr>
          <p:cNvSpPr txBox="1"/>
          <p:nvPr/>
        </p:nvSpPr>
        <p:spPr>
          <a:xfrm>
            <a:off x="11869131" y="4599583"/>
            <a:ext cx="1905000" cy="30855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endParaRPr lang="en-US" dirty="0"/>
          </a:p>
        </p:txBody>
      </p:sp>
    </p:spTree>
    <p:extLst>
      <p:ext uri="{6C1E3B5B-CAA1-4D20-8E94-40334BDAE70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4220D793-2F81-47E1-843A-CC312DDEC8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4B55AD1-E477-4312-BA80-B62F8D6A4CD3}"/>
              </a:ext>
            </a:extLst>
          </p:cNvPr>
          <p:cNvSpPr/>
          <p:nvPr/>
        </p:nvSpPr>
        <p:spPr>
          <a:xfrm>
            <a:off x="1380644" y="2119186"/>
            <a:ext cx="318466" cy="318466"/>
          </a:xfrm>
          <a:custGeom>
            <a:avLst/>
            <a:gdLst/>
            <a:ahLst/>
            <a:cxnLst/>
            <a:rect l="0" t="0" r="r" b="b"/>
            <a:pathLst>
              <a:path w="318466" h="318466">
                <a:moveTo>
                  <a:pt x="0" y="0"/>
                </a:moveTo>
                <a:lnTo>
                  <a:pt x="318466" y="0"/>
                </a:lnTo>
                <a:lnTo>
                  <a:pt x="318466" y="318466"/>
                </a:lnTo>
                <a:lnTo>
                  <a:pt x="0" y="31846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3" name="Group 3">
            <a:extLst>
              <a:ext uri="{76528E02-0FE2-4DFC-9447-854F376680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59298F-C430-4213-9C10-68295866D778}"/>
              </a:ext>
            </a:extLst>
          </p:cNvPr>
          <p:cNvGrpSpPr/>
          <p:nvPr/>
        </p:nvGrpSpPr>
        <p:grpSpPr>
          <a:xfrm>
            <a:off x="1726220" y="2007985"/>
            <a:ext cx="115057" cy="115057"/>
            <a:chOff x="0" y="0"/>
            <a:chExt cx="109093" cy="109093"/>
          </a:xfrm>
        </p:grpSpPr>
        <p:sp>
          <p:nvSpPr>
            <p:cNvPr id="4" name="Freeform 4">
              <a:extLst>
                <a:ext uri="{5DAB1501-54D3-4842-BE63-898B54A67BCE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39502-1F57-4DD7-BD84-E73B3A9FD489}"/>
                </a:ext>
              </a:extLst>
            </p:cNvPr>
            <p:cNvSpPr/>
            <p:nvPr/>
          </p:nvSpPr>
          <p:spPr>
            <a:xfrm>
              <a:off x="0" y="0"/>
              <a:ext cx="109220" cy="109220"/>
            </a:xfrm>
            <a:custGeom>
              <a:avLst/>
              <a:gdLst/>
              <a:ahLst/>
              <a:cxnLst/>
              <a:rect l="0" t="0" r="r" b="b"/>
              <a:pathLst>
                <a:path w="109220" h="109220">
                  <a:moveTo>
                    <a:pt x="0" y="54610"/>
                  </a:moveTo>
                  <a:cubicBezTo>
                    <a:pt x="0" y="24384"/>
                    <a:pt x="24384" y="0"/>
                    <a:pt x="54610" y="0"/>
                  </a:cubicBezTo>
                  <a:lnTo>
                    <a:pt x="54610" y="9017"/>
                  </a:lnTo>
                  <a:lnTo>
                    <a:pt x="54610" y="0"/>
                  </a:lnTo>
                  <a:cubicBezTo>
                    <a:pt x="84709" y="0"/>
                    <a:pt x="109220" y="24384"/>
                    <a:pt x="109220" y="54610"/>
                  </a:cubicBezTo>
                  <a:cubicBezTo>
                    <a:pt x="109220" y="84836"/>
                    <a:pt x="84836" y="109220"/>
                    <a:pt x="54610" y="109220"/>
                  </a:cubicBezTo>
                  <a:lnTo>
                    <a:pt x="54610" y="100076"/>
                  </a:lnTo>
                  <a:lnTo>
                    <a:pt x="54610" y="109093"/>
                  </a:lnTo>
                  <a:cubicBezTo>
                    <a:pt x="24384" y="109093"/>
                    <a:pt x="0" y="84709"/>
                    <a:pt x="0" y="54610"/>
                  </a:cubicBezTo>
                  <a:lnTo>
                    <a:pt x="9017" y="54610"/>
                  </a:lnTo>
                  <a:lnTo>
                    <a:pt x="14986" y="61341"/>
                  </a:lnTo>
                  <a:cubicBezTo>
                    <a:pt x="12319" y="63754"/>
                    <a:pt x="8509" y="64262"/>
                    <a:pt x="5334" y="62865"/>
                  </a:cubicBezTo>
                  <a:cubicBezTo>
                    <a:pt x="2159" y="61468"/>
                    <a:pt x="0" y="58166"/>
                    <a:pt x="0" y="54610"/>
                  </a:cubicBezTo>
                  <a:moveTo>
                    <a:pt x="18034" y="54610"/>
                  </a:moveTo>
                  <a:lnTo>
                    <a:pt x="9017" y="54610"/>
                  </a:lnTo>
                  <a:lnTo>
                    <a:pt x="3048" y="47752"/>
                  </a:lnTo>
                  <a:cubicBezTo>
                    <a:pt x="5715" y="45339"/>
                    <a:pt x="9525" y="44831"/>
                    <a:pt x="12700" y="46228"/>
                  </a:cubicBezTo>
                  <a:cubicBezTo>
                    <a:pt x="15875" y="47625"/>
                    <a:pt x="18034" y="50927"/>
                    <a:pt x="18034" y="54483"/>
                  </a:cubicBezTo>
                  <a:cubicBezTo>
                    <a:pt x="18034" y="74676"/>
                    <a:pt x="34417" y="90932"/>
                    <a:pt x="54483" y="90932"/>
                  </a:cubicBezTo>
                  <a:cubicBezTo>
                    <a:pt x="74549" y="90932"/>
                    <a:pt x="91059" y="74676"/>
                    <a:pt x="91059" y="54610"/>
                  </a:cubicBezTo>
                  <a:lnTo>
                    <a:pt x="100076" y="54610"/>
                  </a:lnTo>
                  <a:lnTo>
                    <a:pt x="91059" y="54610"/>
                  </a:lnTo>
                  <a:cubicBezTo>
                    <a:pt x="91059" y="34417"/>
                    <a:pt x="74676" y="18161"/>
                    <a:pt x="54610" y="18161"/>
                  </a:cubicBezTo>
                  <a:lnTo>
                    <a:pt x="54610" y="9017"/>
                  </a:lnTo>
                  <a:lnTo>
                    <a:pt x="54610" y="18034"/>
                  </a:lnTo>
                  <a:cubicBezTo>
                    <a:pt x="34417" y="18034"/>
                    <a:pt x="18161" y="34417"/>
                    <a:pt x="18161" y="54483"/>
                  </a:cubicBezTo>
                  <a:close/>
                </a:path>
              </a:pathLst>
            </a:custGeom>
            <a:solidFill>
              <a:srgbClr val="307F93">
                <a:alpha val="35686"/>
              </a:srgbClr>
            </a:solidFill>
          </p:spPr>
          <p:txBody>
            <a:bodyPr rtlCol="0"/>
            <a:lstStyle/>
            <a:p>
              <a:endParaRPr lang="en-US" dirty="0"/>
            </a:p>
          </p:txBody>
        </p:sp>
      </p:grpSp>
      <p:sp>
        <p:nvSpPr>
          <p:cNvPr id="5" name="Freeform 5">
            <a:extLst>
              <a:ext uri="{E1179704-610E-48E5-B930-8C431A8362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43187-2097-45B3-BDF8-416C2753F6DE}"/>
              </a:ext>
            </a:extLst>
          </p:cNvPr>
          <p:cNvSpPr/>
          <p:nvPr/>
        </p:nvSpPr>
        <p:spPr>
          <a:xfrm>
            <a:off x="0" y="0"/>
            <a:ext cx="1973669" cy="10287000"/>
          </a:xfrm>
          <a:custGeom>
            <a:avLst/>
            <a:gdLst/>
            <a:ahLst/>
            <a:cxnLst/>
            <a:rect l="0" t="0" r="r" b="b"/>
            <a:pathLst>
              <a:path w="1973669" h="10287000">
                <a:moveTo>
                  <a:pt x="0" y="0"/>
                </a:moveTo>
                <a:lnTo>
                  <a:pt x="1973669" y="0"/>
                </a:lnTo>
                <a:lnTo>
                  <a:pt x="19736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endParaRPr lang="en-US" dirty="0"/>
          </a:p>
        </p:txBody>
      </p:sp>
      <p:grpSp>
        <p:nvGrpSpPr>
          <p:cNvPr id="7" name="Group 7">
            <a:extLst>
              <a:ext uri="{F70A0BBE-5DCE-4A99-8BC8-F23BF618E9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A69E00-BCED-4DAF-AADA-B0598CE2A76E}"/>
              </a:ext>
            </a:extLst>
          </p:cNvPr>
          <p:cNvGrpSpPr/>
          <p:nvPr/>
        </p:nvGrpSpPr>
        <p:grpSpPr>
          <a:xfrm>
            <a:off x="5779160" y="3941092"/>
            <a:ext cx="7900416" cy="2200303"/>
            <a:chOff x="0" y="-272691"/>
            <a:chExt cx="10533889" cy="2933738"/>
          </a:xfrm>
        </p:grpSpPr>
        <p:sp>
          <p:nvSpPr>
            <p:cNvPr id="8" name="Freeform 8">
              <a:extLst>
                <a:ext uri="{FDEB0970-1AA0-4BDD-B1CC-574BA6AD77D7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9A82E5-1E98-410E-A46D-25D0EC6B057E}"/>
                </a:ext>
              </a:extLst>
            </p:cNvPr>
            <p:cNvSpPr/>
            <p:nvPr/>
          </p:nvSpPr>
          <p:spPr>
            <a:xfrm>
              <a:off x="0" y="0"/>
              <a:ext cx="10533889" cy="2661039"/>
            </a:xfrm>
            <a:custGeom>
              <a:avLst/>
              <a:gdLst/>
              <a:ahLst/>
              <a:cxnLst/>
              <a:rect l="0" t="0" r="r" b="b"/>
              <a:pathLst>
                <a:path w="10533888" h="2661039">
                  <a:moveTo>
                    <a:pt x="0" y="0"/>
                  </a:moveTo>
                  <a:lnTo>
                    <a:pt x="10533889" y="0"/>
                  </a:lnTo>
                  <a:lnTo>
                    <a:pt x="10533889" y="2661039"/>
                  </a:lnTo>
                  <a:lnTo>
                    <a:pt x="0" y="2661039"/>
                  </a:lnTo>
                  <a:close/>
                </a:path>
              </a:pathLst>
            </a:custGeom>
            <a:blipFill dpi="0" rotWithShape="1">
              <a:blip r:embed="rId4">
                <a:alphaModFix amt="0"/>
              </a:blip>
              <a:stretch>
                <a:fillRect t="-56205" b="1940"/>
              </a:stretch>
            </a:blipFill>
          </p:spPr>
          <p:txBody>
            <a:bodyPr rtlCol="0"/>
            <a:lstStyle/>
            <a:p>
              <a:endParaRPr lang="en-US" dirty="0"/>
            </a:p>
          </p:txBody>
        </p:sp>
        <p:sp>
          <p:nvSpPr>
            <p:cNvPr id="9" name="TextBox 9">
              <a:extLst>
                <a:ext uri="{D3677A09-0514-4488-AA15-7BF9B36CD054}">
  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C59B84-8779-4012-9A22-981FD3AE3090}"/>
                </a:ext>
              </a:extLst>
            </p:cNvPr>
            <p:cNvSpPr txBox="1"/>
            <p:nvPr/>
          </p:nvSpPr>
          <p:spPr>
            <a:xfrm>
              <a:off x="0" y="-272694"/>
              <a:ext cx="10533889" cy="2651508"/>
            </a:xfrm>
            <a:prstGeom prst="rect">
              <a:avLst/>
            </a:pr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lIns="0" tIns="0" rIns="0" bIns="0" rtlCol="0" anchor="b"/>
            <a:lstStyle/>
            <a:p>
              <a:pPr algn="ctr">
                <a:lnSpc>
                  <a:spcPts val="11999"/>
                </a:lnSpc>
              </a:pPr>
              <a:r>
                <a:rPr lang="en-US" sz="9999" b="0" dirty="0">
                  <a:solidFill>
                    <a:srgbClr val="0070C0"/>
                  </a:solidFill>
                  <a:latin typeface="Otama ep"/>
                </a:rPr>
                <a:t>THANK YOU</a:t>
              </a:r>
            </a:p>
          </p:txBody>
        </p:sp>
      </p:grpSp>
    </p:spTree>
    <p:extLst>
      <p:ext uri="{5BB6BA8A-6E95-44A1-A43F-17393F8D4C3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7489204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598</Words>
  <Application>Microsoft Office PowerPoint</Application>
  <PresentationFormat>Custom</PresentationFormat>
  <Paragraphs>132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Canva Sans</vt:lpstr>
      <vt:lpstr>Arial</vt:lpstr>
      <vt:lpstr>Canva Sans Bold</vt:lpstr>
      <vt:lpstr>Calibri</vt:lpstr>
      <vt:lpstr>Playfair Display</vt:lpstr>
      <vt:lpstr>Montserrat</vt:lpstr>
      <vt:lpstr>Otama ep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AASHISH YADAV</dc:creator>
  <cp:lastModifiedBy>aakashkumaryadav778@gmail.com</cp:lastModifiedBy>
  <cp:revision>10</cp:revision>
  <dcterms:created xsi:type="dcterms:W3CDTF">2026-03-30T12:13:50Z</dcterms:created>
  <dcterms:modified xsi:type="dcterms:W3CDTF">2026-07-17T02:13:00Z</dcterms:modified>
</cp:coreProperties>
</file>